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12064"/>
            <a:ext cx="146304" cy="146304"/>
          </a:xfrm>
          <a:prstGeom prst="rect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41832" y="4754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FERM 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GDP wins globally; SCI is the relational signal worth taking seriously.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3591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normalization, relational FERM, and out-of-sample route-level evidence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307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65C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0.037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42153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 median improvement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2926080" y="37307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65C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0.568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26080" y="42153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 share better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120640" y="37307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0.562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120640" y="42153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 share better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315200" y="37307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24.7%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15200" y="42153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won by SCI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13232" y="4937760"/>
            <a:ext cx="10652760" cy="868680"/>
          </a:xfrm>
          <a:prstGeom prst="rect">
            <a:avLst>
              <a:gd name="adj" fmla="val 4211"/>
            </a:avLst>
          </a:prstGeom>
          <a:solidFill>
            <a:srgbClr val="DCEBE8">
              <a:alpha val="94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5074920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9536" y="5376672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relational extension is informative, but feature-dependent. GDP captures the dominant global destination-attractiveness gradient; SCI is the most promising bilateral feature.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566928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from presentation_ferm_results.ipynb outputs.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experiment compares one benchmark with two ways of injecting attractiveness.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 is not a feature here: it is already part of the RM/FERM mechanism through the distance matrix.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74420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5166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Sigma structure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Interpretation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RM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Sigma = 0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Neutral benchmark: population and distance only.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Traditional FERM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Sigma_ij = destination attractiveness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Tests broad destination absorption, here proxied by GDP.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Relational FERM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Off-diagonal Sigma_ij from bilateral feature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Tests whether corridor-specific affinity improves routes.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1920240"/>
            <a:ext cx="10744200" cy="384048"/>
          </a:xfrm>
          <a:prstGeom prst="rect">
            <a:avLst/>
          </a:prstGeom>
          <a:solidFill>
            <a:srgbClr val="18202A"/>
          </a:solidFill>
          <a:ln w="12700">
            <a:solidFill>
              <a:srgbClr val="18202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4572000"/>
            <a:ext cx="5166360" cy="960120"/>
          </a:xfrm>
          <a:prstGeom prst="rect">
            <a:avLst>
              <a:gd name="adj" fmla="val 3810"/>
            </a:avLst>
          </a:prstGeom>
          <a:solidFill>
            <a:srgbClr val="F1DDD2">
              <a:alpha val="94000"/>
            </a:srgbClr>
          </a:solidFill>
          <a:ln w="12700">
            <a:solidFill>
              <a:srgbClr val="F1DD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470916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77824" y="5010912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Sigma changes across FERM variants. RM keeps Sigma neutral; traditional FERM makes destinations attractive; relational FERM makes specific OD corridors attractive or unattractive.</a:t>
            </a:r>
            <a:endParaRPr lang="en-US" sz="1230" dirty="0"/>
          </a:p>
        </p:txBody>
      </p:sp>
      <p:sp>
        <p:nvSpPr>
          <p:cNvPr id="11" name="Shape 8"/>
          <p:cNvSpPr/>
          <p:nvPr/>
        </p:nvSpPr>
        <p:spPr>
          <a:xfrm>
            <a:off x="6309360" y="4572000"/>
            <a:ext cx="5166360" cy="960120"/>
          </a:xfrm>
          <a:prstGeom prst="rect">
            <a:avLst>
              <a:gd name="adj" fmla="val 3810"/>
            </a:avLst>
          </a:prstGeom>
          <a:solidFill>
            <a:srgbClr val="DCEBE8">
              <a:alpha val="94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55664" y="470916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55664" y="5010912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 normalization and sigma on validation_2019_h1. Report final results on test_2019_h2.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566928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presentation_ferm_results.ipynb; test split = 2019 H2.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Normalization is a specification choice, so it is selected on validation.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feature has a different scale and skew; the final test carries forward one selected version per feature group.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600200"/>
          <a:ext cx="4892040" cy="2423160"/>
        </p:xfrm>
        <a:graphic>
          <a:graphicData uri="http://schemas.openxmlformats.org/drawingml/2006/table">
            <a:tbl>
              <a:tblPr/>
              <a:tblGrid>
                <a:gridCol w="1645920"/>
                <a:gridCol w="2514600"/>
                <a:gridCol w="640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 group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Selected normalization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sigma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GDP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 zscore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Abel stock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expected-stock log-ratio min-max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Social connectedness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min-max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Common religion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min-max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Diplomatic disagreement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 rank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37960" y="1600200"/>
            <a:ext cx="4892040" cy="320040"/>
          </a:xfrm>
          <a:prstGeom prst="rect">
            <a:avLst/>
          </a:prstGeom>
          <a:solidFill>
            <a:srgbClr val="18202A"/>
          </a:solidFill>
          <a:ln w="12700">
            <a:solidFill>
              <a:srgbClr val="18202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5956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53312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02A"/>
                </a:solidFill>
              </a:rPr>
              <a:t>Build Sigma variants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53312" y="17556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17D"/>
                </a:solidFill>
              </a:rPr>
              <a:t>GDP, Abel, SCI, religion, diplomacy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14984" y="1947672"/>
            <a:ext cx="0" cy="457200"/>
          </a:xfrm>
          <a:prstGeom prst="line">
            <a:avLst/>
          </a:prstGeom>
          <a:noFill/>
          <a:ln w="12700">
            <a:solidFill>
              <a:srgbClr val="CBD0D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468880"/>
            <a:ext cx="384048" cy="384048"/>
          </a:xfrm>
          <a:prstGeom prst="ellipse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5557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353312" y="2441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02A"/>
                </a:solidFill>
              </a:rPr>
              <a:t>Tune sigma on validation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53312" y="2715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17D"/>
                </a:solidFill>
              </a:rPr>
              <a:t>Same sigma grid for each variant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014984" y="2907792"/>
            <a:ext cx="0" cy="457200"/>
          </a:xfrm>
          <a:prstGeom prst="line">
            <a:avLst/>
          </a:prstGeom>
          <a:noFill/>
          <a:ln w="12700">
            <a:solidFill>
              <a:srgbClr val="CBD0D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3429000"/>
            <a:ext cx="384048" cy="384048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5158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353312" y="3401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02A"/>
                </a:solidFill>
              </a:rPr>
              <a:t>Select one per feature group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53312" y="36758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17D"/>
                </a:solidFill>
              </a:rPr>
              <a:t>Median improvement, then share better, then Pearson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014984" y="3867912"/>
            <a:ext cx="0" cy="457200"/>
          </a:xfrm>
          <a:prstGeom prst="line">
            <a:avLst/>
          </a:prstGeom>
          <a:noFill/>
          <a:ln w="12700">
            <a:solidFill>
              <a:srgbClr val="CBD0D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389120"/>
            <a:ext cx="384048" cy="384048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4759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353312" y="4361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02A"/>
                </a:solidFill>
              </a:rPr>
              <a:t>Freeze and test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353312" y="46360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17D"/>
                </a:solidFill>
              </a:rPr>
              <a:t>Report only the selected feature specifications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66928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selection uses median route-level improvement as the primary criterion.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says GDP is strongest, while SCI is the relational feature worth carrying forward.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selected sigma means dilution toward RM-like behavior, not stronger feature influence.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0D2"/>
            </a:solidFill>
            <a:prstDash val="solid"/>
          </a:ln>
        </p:spPr>
      </p:sp>
      <p:pic>
        <p:nvPicPr>
          <p:cNvPr id="7" name="Image 0" descr="/Users/vittoriabettio/Desktop/PhD/Research/FERM/Github/FERM_python/outputs/presentation_figures/02_validation_sigma_tu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3098"/>
            <a:ext cx="11109960" cy="371184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split: 2019 H1.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Across normalization variants, GDP remains the clearest global winner.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normalization sensitivity figure is the robustness story: each feature group is tested fairly before final test evaluation.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1065276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0D2"/>
            </a:solidFill>
            <a:prstDash val="solid"/>
          </a:ln>
        </p:spPr>
      </p:sp>
      <p:pic>
        <p:nvPicPr>
          <p:cNvPr id="7" name="Image 0" descr="/Users/vittoriabettio/Desktop/PhD/Research/FERM/Github/FERM_python/outputs/presentation_figures/02a_normalization_sensitivity_all_fea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3883" y="1417320"/>
            <a:ext cx="3619475" cy="4663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row is one feature group; each line is one normalization variant.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RESULT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 of sample, GDP leads every main metric; SCI is second and meaningfully positive.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religion is marginal; Abel and diplomatic disagreement underperform RM on median route-level error.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74420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0D2"/>
            </a:solidFill>
            <a:prstDash val="solid"/>
          </a:ln>
        </p:spPr>
      </p:sp>
      <p:pic>
        <p:nvPicPr>
          <p:cNvPr id="7" name="Image 0" descr="/Users/vittoriabettio/Desktop/PhD/Research/FERM/Github/FERM_python/outputs/presentation_figures/03_test_summary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5105" y="1508760"/>
            <a:ext cx="665703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split: 2019 H2.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METRICS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ranking is not subtle: GDP is globally best; SCI is the only strong relational candidate.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median improvement means the model reduced RM's absolute log-ratio error.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645920"/>
          <a:ext cx="10789920" cy="3566160"/>
        </p:xfrm>
        <a:graphic>
          <a:graphicData uri="http://schemas.openxmlformats.org/drawingml/2006/table">
            <a:tbl>
              <a:tblPr/>
              <a:tblGrid>
                <a:gridCol w="4297680"/>
                <a:gridCol w="1645920"/>
                <a:gridCol w="1417320"/>
                <a:gridCol w="1417320"/>
                <a:gridCol w="1234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Median improvement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 better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Pearson log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Zero pred.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Traditional FERM: GDP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0.037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0.568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0.689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0.152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Relational FERM: Social connectedness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0.026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0.562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0.658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0.157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Relational FERM: Common religion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0.502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0.654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0.197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Abel stock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-0.003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0.446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0.207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Relational FERM: Diplomatic disagreement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-0.008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0.413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0.626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0.228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13232" y="1645920"/>
            <a:ext cx="10789920" cy="384048"/>
          </a:xfrm>
          <a:prstGeom prst="rect">
            <a:avLst/>
          </a:prstGeom>
          <a:solidFill>
            <a:srgbClr val="18202A"/>
          </a:solidFill>
          <a:ln w="12700">
            <a:solidFill>
              <a:srgbClr val="18202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5532120"/>
            <a:ext cx="10789920" cy="621792"/>
          </a:xfrm>
          <a:prstGeom prst="rect">
            <a:avLst>
              <a:gd name="adj" fmla="val 5882"/>
            </a:avLst>
          </a:prstGeom>
          <a:solidFill>
            <a:srgbClr val="DCEBE8">
              <a:alpha val="94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5669280"/>
            <a:ext cx="1049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rule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9536" y="5971032"/>
            <a:ext cx="10497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improvement is RM absolute log error minus model absolute log error. Positive values mean the model improves on RM.</a:t>
            </a:r>
            <a:endParaRPr lang="en-US" sz="1230" dirty="0"/>
          </a:p>
        </p:txBody>
      </p:sp>
      <p:sp>
        <p:nvSpPr>
          <p:cNvPr id="11" name="Shape 8"/>
          <p:cNvSpPr/>
          <p:nvPr/>
        </p:nvSpPr>
        <p:spPr>
          <a:xfrm>
            <a:off x="566928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presentation_ferm_results.ipynb; test split = 2019 H2.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variants remain close to RM, but GDP and SCI make useful route-level shifts.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matters because high sigma values push the model back toward RM-like distributions.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389888"/>
            <a:ext cx="1092708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0D2"/>
            </a:solidFill>
            <a:prstDash val="solid"/>
          </a:ln>
        </p:spPr>
      </p:sp>
      <p:pic>
        <p:nvPicPr>
          <p:cNvPr id="7" name="Image 0" descr="/Users/vittoriabettio/Desktop/PhD/Research/FERM/Github/FERM_python/outputs/presentation_figures/04_prediction_structure_vs_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8587" y="1389888"/>
            <a:ext cx="8106642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presentation_ferm_results.ipynb; test split = 2019 H2.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ERRORS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GDP and SCI improve many routes, but GDP shifts errors more consistently below the diagonal.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Points below the diagonal mean the FERM variant has lower absolute log-ratio error than RM.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389888"/>
            <a:ext cx="1092708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0D2"/>
            </a:solidFill>
            <a:prstDash val="solid"/>
          </a:ln>
        </p:spPr>
      </p:sp>
      <p:pic>
        <p:nvPicPr>
          <p:cNvPr id="7" name="Image 0" descr="/Users/vittoriabettio/Desktop/PhD/Research/FERM/Github/FERM_python/outputs/presentation_figures/05_route_error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9745" y="1389888"/>
            <a:ext cx="7764327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presentation_ferm_results.ipynb; test split = 2019 H2.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HETEROGENEITY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gains are not uniform: GDP and SCI help most on larger observed-flow routes.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strongest argument against a single headline metric: different features win different OD pairs.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298448"/>
            <a:ext cx="978408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0D2"/>
            </a:solidFill>
            <a:prstDash val="solid"/>
          </a:ln>
        </p:spPr>
      </p:sp>
      <p:pic>
        <p:nvPicPr>
          <p:cNvPr id="7" name="Image 0" descr="/Users/vittoriabettio/Desktop/PhD/Research/FERM/Github/FERM_python/outputs/presentation_figures/07_where_features_work_b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332" y="1298448"/>
            <a:ext cx="7193015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652760" y="2103120"/>
            <a:ext cx="960120" cy="2240280"/>
          </a:xfrm>
          <a:prstGeom prst="rect">
            <a:avLst>
              <a:gd name="adj" fmla="val 3810"/>
            </a:avLst>
          </a:prstGeom>
          <a:solidFill>
            <a:srgbClr val="DCEBE8">
              <a:alpha val="94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99064" y="22402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799064" y="2542032"/>
            <a:ext cx="667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Blue/positive cells indicate median route-level improvement over RM within each observed-flow or distance bin.</a:t>
            </a:r>
            <a:endParaRPr lang="en-US" sz="1230" dirty="0"/>
          </a:p>
        </p:txBody>
      </p:sp>
      <p:sp>
        <p:nvSpPr>
          <p:cNvPr id="11" name="Shape 8"/>
          <p:cNvSpPr/>
          <p:nvPr/>
        </p:nvSpPr>
        <p:spPr>
          <a:xfrm>
            <a:off x="566928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presentation_ferm_results.ipynb; test split = 2019 H2.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B65C2A"/>
          </a:solidFill>
          <a:ln w="12700">
            <a:solidFill>
              <a:srgbClr val="B6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WINNERS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GDP wins the largest route share, but SCI wins a substantial subset of OD pairs.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cleanest evidence that relational information has value, even if it does not dominate globally.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" y="1554480"/>
            <a:ext cx="68580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0D2"/>
            </a:solidFill>
            <a:prstDash val="solid"/>
          </a:ln>
        </p:spPr>
      </p:sp>
      <p:pic>
        <p:nvPicPr>
          <p:cNvPr id="7" name="Image 0" descr="/Users/vittoriabettio/Desktop/PhD/Research/FERM/Github/FERM_python/outputs/presentation_figures/08_route_winn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12464"/>
            <a:ext cx="6858000" cy="3250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1737360"/>
            <a:ext cx="3154680" cy="1280160"/>
          </a:xfrm>
          <a:prstGeom prst="rect">
            <a:avLst>
              <a:gd name="adj" fmla="val 2857"/>
            </a:avLst>
          </a:prstGeom>
          <a:solidFill>
            <a:srgbClr val="F1DDD2">
              <a:alpha val="94000"/>
            </a:srgbClr>
          </a:solidFill>
          <a:ln w="12700">
            <a:solidFill>
              <a:srgbClr val="F1DD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47304" y="18745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Winner shares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147304" y="2176272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 wins 31.7% of routes. SCI wins 24.7%. RM still wins 11.4%, mostly lower-observed-flow routes.</a:t>
            </a:r>
            <a:endParaRPr lang="en-US" sz="1230" dirty="0"/>
          </a:p>
        </p:txBody>
      </p:sp>
      <p:sp>
        <p:nvSpPr>
          <p:cNvPr id="11" name="Shape 8"/>
          <p:cNvSpPr/>
          <p:nvPr/>
        </p:nvSpPr>
        <p:spPr>
          <a:xfrm>
            <a:off x="8001000" y="3337560"/>
            <a:ext cx="3154680" cy="1234440"/>
          </a:xfrm>
          <a:prstGeom prst="rect">
            <a:avLst>
              <a:gd name="adj" fmla="val 2963"/>
            </a:avLst>
          </a:prstGeom>
          <a:solidFill>
            <a:srgbClr val="DCEBE8">
              <a:alpha val="94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47304" y="34747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147304" y="3776472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extension is feature-dependent: social connectedness contains useful bilateral signal, but GDP captures a broader absorption gradient.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566928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presentation_ferm_results.ipynb; test split = 2019 H2.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B54848"/>
          </a:solidFill>
          <a:ln w="12700">
            <a:solidFill>
              <a:srgbClr val="B548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5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ABEL DIAGNOSTIC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Abel is conceptually appealing, but this specification zero-predicts too many real routes.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zero routes are not only tiny flows; several large Gulf/South Asia corridors are set to zero.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48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20.7%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2677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Abel zero-prediction share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3246120" y="17830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48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57,919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46120" y="22677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migrants on zero routes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989320" y="17830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48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7,424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89320" y="22677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observed zero route</a:t>
            </a:r>
            <a:endParaRPr lang="en-US" sz="88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154680"/>
          <a:ext cx="5669280" cy="2286000"/>
        </p:xfrm>
        <a:graphic>
          <a:graphicData uri="http://schemas.openxmlformats.org/drawingml/2006/table">
            <a:tbl>
              <a:tblPr/>
              <a:tblGrid>
                <a:gridCol w="3246120"/>
                <a:gridCol w="1188720"/>
                <a:gridCol w="1005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Route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Prediction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Sri Lanka -&gt; Qatar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7,424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Qatar -&gt; Sri Lanka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6,239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Bahrain -&gt; Philippines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6,137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Sri Lanka -&gt; Kuwait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4,500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Nepal -&gt; Cyprus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2,815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8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868680" y="3154680"/>
            <a:ext cx="5669280" cy="347472"/>
          </a:xfrm>
          <a:prstGeom prst="rect">
            <a:avLst/>
          </a:prstGeom>
          <a:solidFill>
            <a:srgbClr val="18202A"/>
          </a:solidFill>
          <a:ln w="12700">
            <a:solidFill>
              <a:srgbClr val="1820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86600" y="3154680"/>
            <a:ext cx="4160520" cy="1325880"/>
          </a:xfrm>
          <a:prstGeom prst="rect">
            <a:avLst>
              <a:gd name="adj" fmla="val 2759"/>
            </a:avLst>
          </a:prstGeom>
          <a:solidFill>
            <a:srgbClr val="F4DADA">
              <a:alpha val="94000"/>
            </a:srgbClr>
          </a:solidFill>
          <a:ln w="12700">
            <a:solidFill>
              <a:srgbClr val="F4DA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32904" y="329184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232904" y="3593592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Abel may still be useful, but not as currently normalized and simulated. The immediate evidence is instability, not improvement.</a:t>
            </a:r>
            <a:endParaRPr lang="en-US" sz="1230" dirty="0"/>
          </a:p>
        </p:txBody>
      </p:sp>
      <p:sp>
        <p:nvSpPr>
          <p:cNvPr id="17" name="Shape 14"/>
          <p:cNvSpPr/>
          <p:nvPr/>
        </p:nvSpPr>
        <p:spPr>
          <a:xfrm>
            <a:off x="566928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presentation_ferm_results.ipynb; test split = 2019 H2.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relational model is viable, but not every relational feature deserves the same confidence.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65836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 is the strongest global feature because it captures destination absorption.</a:t>
            </a:r>
            <a:endParaRPr lang="en-US" sz="1700" dirty="0"/>
          </a:p>
          <a:p>
            <a:r>
              <a:rPr lang="en-US" sz="170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 is the only relational feature with a meaningful positive out-of-sample signal.</a:t>
            </a:r>
            <a:endParaRPr lang="en-US" sz="1700" dirty="0"/>
          </a:p>
          <a:p>
            <a:r>
              <a:rPr lang="en-US" sz="170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religion is marginal; Abel and diplo are weak in this specification.</a:t>
            </a:r>
            <a:endParaRPr lang="en-US" sz="1700" dirty="0"/>
          </a:p>
          <a:p>
            <a:r>
              <a:rPr lang="en-US" sz="170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 matters, but it does not create signal where the feature is misaligned.</a:t>
            </a:r>
            <a:endParaRPr lang="en-US" sz="1700" dirty="0"/>
          </a:p>
          <a:p>
            <a:r>
              <a:rPr lang="en-US" sz="170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natural next model is combined: destination attractiveness plus relational corridor structure.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26680" y="1874520"/>
            <a:ext cx="3474720" cy="1645920"/>
          </a:xfrm>
          <a:prstGeom prst="rect">
            <a:avLst>
              <a:gd name="adj" fmla="val 2222"/>
            </a:avLst>
          </a:prstGeom>
          <a:solidFill>
            <a:srgbClr val="DCEBE8">
              <a:alpha val="94000"/>
            </a:srgbClr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72984" y="20116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sentence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72984" y="2313432"/>
            <a:ext cx="3182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not claim that relational FERM failed. I would claim that the current relational features are uneven, and SCI is the most promising one.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7726680" y="3977640"/>
            <a:ext cx="3474720" cy="1234440"/>
          </a:xfrm>
          <a:prstGeom prst="rect">
            <a:avLst>
              <a:gd name="adj" fmla="val 2963"/>
            </a:avLst>
          </a:prstGeom>
          <a:solidFill>
            <a:srgbClr val="F1DDD2">
              <a:alpha val="94000"/>
            </a:srgbClr>
          </a:solidFill>
          <a:ln w="12700">
            <a:solidFill>
              <a:srgbClr val="F1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72984" y="411480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6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72984" y="4416552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or tune a combined Sigma with destination and relational components, then validate out of sample.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566928" y="6419088"/>
            <a:ext cx="11064240" cy="0"/>
          </a:xfrm>
          <a:prstGeom prst="line">
            <a:avLst/>
          </a:prstGeom>
          <a:noFill/>
          <a:ln w="7620">
            <a:solidFill>
              <a:srgbClr val="CBD0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presentation_ferm_results.ipynb; test split = 2019 H2.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FERM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FERM Results: Feature Normalization and Relational Evidence</dc:title>
  <dc:subject>FERM results presentation</dc:subject>
  <dc:creator>Vittoria Bettio</dc:creator>
  <cp:lastModifiedBy>Vittoria Bettio</cp:lastModifiedBy>
  <cp:revision>1</cp:revision>
  <dcterms:created xsi:type="dcterms:W3CDTF">2026-06-08T14:29:06Z</dcterms:created>
  <dcterms:modified xsi:type="dcterms:W3CDTF">2026-06-08T14:29:06Z</dcterms:modified>
</cp:coreProperties>
</file>