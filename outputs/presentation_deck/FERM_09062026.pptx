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71" r:id="rId4"/>
    <p:sldId id="274" r:id="rId5"/>
    <p:sldId id="272" r:id="rId6"/>
    <p:sldId id="273" r:id="rId7"/>
    <p:sldId id="269" r:id="rId8"/>
    <p:sldId id="259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60" r:id="rId25"/>
    <p:sldId id="265" r:id="rId26"/>
    <p:sldId id="264" r:id="rId27"/>
    <p:sldId id="267" r:id="rId28"/>
    <p:sldId id="261" r:id="rId29"/>
    <p:sldId id="270" r:id="rId30"/>
    <p:sldId id="268" r:id="rId31"/>
    <p:sldId id="262" r:id="rId32"/>
    <p:sldId id="263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0E9"/>
    <a:srgbClr val="289D8F"/>
    <a:srgbClr val="E9C46A"/>
    <a:srgbClr val="0C1B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63"/>
    <p:restoredTop sz="94610"/>
  </p:normalViewPr>
  <p:slideViewPr>
    <p:cSldViewPr snapToGrid="0" snapToObjects="1">
      <p:cViewPr varScale="1">
        <p:scale>
          <a:sx n="174" d="100"/>
          <a:sy n="174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96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6977-0BCE-7C86-22F7-B215572F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72C74-D59E-64A0-C8BE-722F42470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75668-686D-FEA5-8CA3-61859FC91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BE00B-53C8-9333-73E4-FE606E192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6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B6F94-9F74-A4F8-6555-E335CEDC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E6F03-4223-BB35-D9A4-08B01186E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47D7C-13D1-6610-6EA2-20EA559FA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D557-A4E5-6F5D-FEE2-CF05DEDC8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98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CB8B-B2AD-E49D-CB3B-0A3EBBB7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9643B-BB3C-0AEB-503E-4B63EFADB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18541-4783-BC05-DBA1-1A9CB4E11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D1AF8-E81F-BB74-1823-10035888C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17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CADCB-4E85-9CFB-149F-B161A891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B727A-DC18-5F14-7E36-DE26C80EC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181E4-35F1-65BA-D698-C63184470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3F06D-274D-548E-08E8-5F392EAD5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24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B6A0-88A3-F411-C8A0-B311CD74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A4645-47E6-A064-92BA-F5314FF7C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346BA-96D4-0985-97DE-E75CE8507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117A7-E388-8C85-EC43-073DF9B34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6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2D852-B254-4A65-8549-3B390A01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30614-79A3-BC20-692A-A38DBD27F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B66F2-FF58-AF54-1777-53358FC46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1470F-0B42-8C38-BE3B-614E386A0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8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1B30-E252-9E5C-8252-F3E4A745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26733-B375-74F4-DF8D-07AF21D19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FAEE1-3FA7-660F-C339-F0583B552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6391B-615F-E677-8E41-1FE670154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59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D5548-DD84-4B40-A630-38C3FB40F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0E69A-CB79-DD30-82F7-5DDF5A605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B1930-F8DF-A8A1-7C13-48AABAFEF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59F1F-EC9A-02E6-CD53-BAEC37F31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91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1774-3A5E-B462-65D2-70651152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DCE4D-C46A-9F3C-D261-AA5539585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29F4E-078B-1C8C-7ACC-E3E8267A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33233-2B79-D756-7AEB-373A6B9FD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80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EF652-397C-140F-15F1-B9E7D44C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A679A-7FA6-5148-1159-35BBEE34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26034-3B47-4C89-FE36-37CFA2B6B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F705C-028E-32BC-81CD-2EE39724C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36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EE522-530D-621C-B3F9-CA7FA043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A999F-FC4D-2049-D44B-25AF41905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ED898-3570-D6DE-8A52-5D84AA66C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AFF82-C326-030A-6E1E-7224EA200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28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DC5C1-0D2F-4F76-1550-A6552684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5B812-6369-1D67-A29F-3A451A443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70DE6-C4C1-3108-2539-D2587FB86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C2CD-0D41-81D8-84FF-4150BE7261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91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E5F8-8D4A-A02B-8AB9-F1541442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6D915-18CB-CC0F-55D8-3243A6CB0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F43B9-067B-2D43-A424-87B0F9BC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C8B13-BC37-6E29-4713-6250DEF61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79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E7644-2B3D-B0BC-4070-A53E07E6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A377E-23A5-6201-EF21-93BCAA0C1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AE8E2-ACAC-B881-CB8F-FA1544771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ABF42-2503-C036-423F-F75292F36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89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24C5-33CA-9DBD-41B6-956A707E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7D472-A885-24F5-3BFB-2877D899C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C5869-F3AC-3DD4-3A48-3A73E6D73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F8735-ECF7-30AB-E2C8-3F6D02340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86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FC9D-7CC1-89DE-EC95-FA75D690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C761A-713F-17CD-B7B8-64CDC6BBE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FB7C3-068E-0DD0-C37A-003FC6ABE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0C221-AF92-E33E-3C75-53CB702E6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4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AD9F-2F22-6432-2A4A-2C2DE130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09C6C-29DA-4DE5-1997-6360D66EF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1E36C-9125-DD1B-D32B-1700720AC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2859A-622D-298B-710D-8E0598BCB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F406-C593-6ED3-16BE-0E0A602D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26849-2ED1-32B1-6031-3A259AF74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9CF11-0FE5-8551-B150-2156D9AA5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9D3D0-0998-8F71-511A-CA6C1276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994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45D1-9EE5-9DD6-F4A6-9BF124BD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3C516-2A0A-9EB7-6A38-0CD3877A4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B7068-F016-0720-C33A-6EAB13DEA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D8142-2336-C6F3-6765-D0C2CBACB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51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D8D0-22A2-1CB2-78C8-90E01F08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5E112-4937-5B9F-241C-EE791680A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044DB-9C24-4304-5801-40B834FDC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8EE8-6711-6FA6-7122-9ED0562C2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032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32BE-657E-4A79-8D05-32F163B7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E405C-D1BA-5C93-8C54-2342B7D8D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A5039-3F71-4530-E435-C6D6E6DA6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F60D-B5D5-54A5-C0C6-785AF08DC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114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9BCD-3951-91DD-6AC2-BAE6701E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8BA5E-C680-075D-496C-28282E716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DA46F-291B-CE26-25DD-46D18BE2F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3E3EF-989F-8031-794D-43289D1C5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99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78A4-8293-F3FD-5C1A-BC22B752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BCB20-791A-A43F-0C55-F49DA5C69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87616-8AE1-FEAE-0190-43F795370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D4E7-4887-F12E-D362-0D8F950D68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85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CD68-C3F2-6F25-C268-029039B7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3B75F-021A-3E27-3A6C-35C03B6D5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7BA8B-624C-CAD5-1E65-BC838DB86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19D30-52C7-6858-7C8A-CF92FA16F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127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2A9D8F">
              <a:alpha val="30000"/>
            </a:srgbClr>
          </a:solidFill>
          <a:ln w="12700">
            <a:solidFill>
              <a:srgbClr val="2A9D8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Features-Enriched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 Model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Radiation Model with exogenous location features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large-scale human mobility prediction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to international migration · Vittoria Bettio · Robustness meeting 15-04-2026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6CA8">
              <a:alpha val="50000"/>
            </a:srgbClr>
          </a:solidFill>
          <a:ln w="12700">
            <a:solidFill>
              <a:srgbClr val="1B6CA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Radiation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566160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population as input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Parameter-free &amp; analytically tractable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at national/regional scale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incorporate economic, climatic, or cultural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locations share the same benefit distribution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937760" y="868680"/>
            <a:ext cx="384048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93776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Features-Enriched RM  (FERM)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298448"/>
            <a:ext cx="3566160" cy="1759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+ exogenous feature (niche) as input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physical absorption process as 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location gets its own benefit distribution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destinations draw migrants from further away</a:t>
            </a:r>
          </a:p>
        </p:txBody>
      </p:sp>
      <p:sp>
        <p:nvSpPr>
          <p:cNvPr id="13" name="Text 11"/>
          <p:cNvSpPr/>
          <p:nvPr/>
        </p:nvSpPr>
        <p:spPr>
          <a:xfrm>
            <a:off x="4224528" y="2286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9D519C13-790A-9E56-2EED-7F16ED72B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9" y="3195649"/>
            <a:ext cx="2802621" cy="1376351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DE640987-1414-19BF-6CD5-A42F600DF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56690" y="3195648"/>
            <a:ext cx="2802621" cy="1376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9B449-7449-6D86-872E-E3537C00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7F6510-7919-4CC0-4BC8-D49D0EBCB80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A99F13-C0FC-6748-3008-C06E332A9328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9EE5C4-A725-5115-97E7-A328BC662D24}"/>
              </a:ext>
            </a:extLst>
          </p:cNvPr>
          <p:cNvSpPr/>
          <p:nvPr/>
        </p:nvSpPr>
        <p:spPr>
          <a:xfrm>
            <a:off x="365760" y="86868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BDA5898-802F-3436-C56F-A0C32C3548B2}"/>
              </a:ext>
            </a:extLst>
          </p:cNvPr>
          <p:cNvSpPr/>
          <p:nvPr/>
        </p:nvSpPr>
        <p:spPr>
          <a:xfrm>
            <a:off x="365760" y="868680"/>
            <a:ext cx="3840480" cy="347472"/>
          </a:xfrm>
          <a:prstGeom prst="rect">
            <a:avLst/>
          </a:prstGeom>
          <a:solidFill>
            <a:srgbClr val="289D8F"/>
          </a:solidFill>
          <a:ln w="12700">
            <a:solidFill>
              <a:srgbClr val="28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5565D83-84F8-0DAE-54C8-1177D5D6CBF8}"/>
              </a:ext>
            </a:extLst>
          </p:cNvPr>
          <p:cNvSpPr/>
          <p:nvPr/>
        </p:nvSpPr>
        <p:spPr>
          <a:xfrm>
            <a:off x="4937760" y="86868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DAADD9-81B9-5AEC-D13B-9EC0F6DB895C}"/>
              </a:ext>
            </a:extLst>
          </p:cNvPr>
          <p:cNvSpPr/>
          <p:nvPr/>
        </p:nvSpPr>
        <p:spPr>
          <a:xfrm>
            <a:off x="4937760" y="868680"/>
            <a:ext cx="384048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DD1A86-6ED6-1155-D91C-0CC916CD1B97}"/>
              </a:ext>
            </a:extLst>
          </p:cNvPr>
          <p:cNvSpPr/>
          <p:nvPr/>
        </p:nvSpPr>
        <p:spPr>
          <a:xfrm>
            <a:off x="370331" y="86868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Features-Enriched RM  (FERM)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C2EBA6-7246-9A40-E0E9-3F5F664C2673}"/>
              </a:ext>
            </a:extLst>
          </p:cNvPr>
          <p:cNvSpPr/>
          <p:nvPr/>
        </p:nvSpPr>
        <p:spPr>
          <a:xfrm>
            <a:off x="507491" y="1298450"/>
            <a:ext cx="3566160" cy="1759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+ exogenous feature (niche) as input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absorption process as 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location gets its own benefit distribution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destinations draw migrants from further away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35464B-E206-8868-577E-CD1DA952FEF2}"/>
              </a:ext>
            </a:extLst>
          </p:cNvPr>
          <p:cNvSpPr/>
          <p:nvPr/>
        </p:nvSpPr>
        <p:spPr>
          <a:xfrm>
            <a:off x="4224528" y="2286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0177FC0-BB03-1340-8E18-6E3C17ADF3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261" y="3195650"/>
            <a:ext cx="2802621" cy="1376350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CCE7C2DC-34A7-4E8D-CB4B-8C6556A3B900}"/>
              </a:ext>
            </a:extLst>
          </p:cNvPr>
          <p:cNvSpPr/>
          <p:nvPr/>
        </p:nvSpPr>
        <p:spPr>
          <a:xfrm>
            <a:off x="4910328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FERM</a:t>
            </a:r>
            <a:endParaRPr lang="en-US" sz="13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273B9B9-F4A1-3191-FDEB-FA941F5D9CB1}"/>
              </a:ext>
            </a:extLst>
          </p:cNvPr>
          <p:cNvSpPr/>
          <p:nvPr/>
        </p:nvSpPr>
        <p:spPr>
          <a:xfrm>
            <a:off x="5047488" y="1298448"/>
            <a:ext cx="3566160" cy="1759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+ relational feature </a:t>
            </a:r>
            <a:r>
              <a:rPr lang="el-GR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ᵢⱼ as input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absorption process as RM / FERM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 becomes corridor-specific, not only destination-specific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 j can look different from different origins 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298F9B92-C173-5390-268E-D3B13C10D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56689" y="3197972"/>
            <a:ext cx="2802621" cy="137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1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D0B92-0091-C8D9-2EE8-79F68396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9A656B-2FEC-F3B2-388D-B0D8F26EE2D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1DE58E-E3CA-B337-4B52-C15AD248F4D7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B912AF-37E7-4452-59CE-DD8D9DA3A10F}"/>
              </a:ext>
            </a:extLst>
          </p:cNvPr>
          <p:cNvSpPr/>
          <p:nvPr/>
        </p:nvSpPr>
        <p:spPr>
          <a:xfrm>
            <a:off x="365760" y="86868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4D6B65-1813-EB17-3D74-ACE23E0F4D12}"/>
              </a:ext>
            </a:extLst>
          </p:cNvPr>
          <p:cNvSpPr/>
          <p:nvPr/>
        </p:nvSpPr>
        <p:spPr>
          <a:xfrm>
            <a:off x="365760" y="868680"/>
            <a:ext cx="3840480" cy="347472"/>
          </a:xfrm>
          <a:prstGeom prst="rect">
            <a:avLst/>
          </a:prstGeom>
          <a:solidFill>
            <a:srgbClr val="289D8F"/>
          </a:solidFill>
          <a:ln w="12700">
            <a:solidFill>
              <a:srgbClr val="28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5552546-219E-CDCE-F78F-D8DBD89A0113}"/>
              </a:ext>
            </a:extLst>
          </p:cNvPr>
          <p:cNvSpPr/>
          <p:nvPr/>
        </p:nvSpPr>
        <p:spPr>
          <a:xfrm>
            <a:off x="4937760" y="86868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7149881-9677-233F-D559-B8DE50D06AE4}"/>
              </a:ext>
            </a:extLst>
          </p:cNvPr>
          <p:cNvSpPr/>
          <p:nvPr/>
        </p:nvSpPr>
        <p:spPr>
          <a:xfrm>
            <a:off x="4937760" y="868680"/>
            <a:ext cx="384048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7CA64E-64DF-06A5-F50A-8AA5440F6591}"/>
              </a:ext>
            </a:extLst>
          </p:cNvPr>
          <p:cNvSpPr/>
          <p:nvPr/>
        </p:nvSpPr>
        <p:spPr>
          <a:xfrm>
            <a:off x="370331" y="86868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Features-Enriched RM  (FERM)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A0AD9AC-2010-519D-A8A6-F181658E2DBD}"/>
              </a:ext>
            </a:extLst>
          </p:cNvPr>
          <p:cNvSpPr/>
          <p:nvPr/>
        </p:nvSpPr>
        <p:spPr>
          <a:xfrm>
            <a:off x="4224528" y="2286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2050B5A-687C-3D17-6EE5-92E3B35E4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261" y="3195650"/>
            <a:ext cx="2802621" cy="1376350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74F998AA-6518-2EE6-84F1-4F6FBC6EDE24}"/>
              </a:ext>
            </a:extLst>
          </p:cNvPr>
          <p:cNvSpPr/>
          <p:nvPr/>
        </p:nvSpPr>
        <p:spPr>
          <a:xfrm>
            <a:off x="4910328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FERM</a:t>
            </a:r>
            <a:endParaRPr lang="en-US" sz="13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799A705-B5E5-C338-E9C4-F174956B20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56689" y="3197972"/>
            <a:ext cx="2802621" cy="1374028"/>
          </a:xfrm>
          <a:prstGeom prst="rect">
            <a:avLst/>
          </a:prstGeom>
        </p:spPr>
      </p:pic>
      <p:pic>
        <p:nvPicPr>
          <p:cNvPr id="7" name="Immagine 6" descr="Immagine che contiene testo, software, schermata, Pagina Web&#10;&#10;Il contenuto generato dall'IA potrebbe non essere corretto.">
            <a:extLst>
              <a:ext uri="{FF2B5EF4-FFF2-40B4-BE49-F238E27FC236}">
                <a16:creationId xmlns:a16="http://schemas.microsoft.com/office/drawing/2014/main" id="{B6E9562A-3B87-72C3-729B-00A2E384E5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113" t="43748" r="9865" b="26347"/>
          <a:stretch>
            <a:fillRect/>
          </a:stretch>
        </p:blipFill>
        <p:spPr>
          <a:xfrm>
            <a:off x="370331" y="1490204"/>
            <a:ext cx="3823194" cy="1376350"/>
          </a:xfrm>
          <a:prstGeom prst="rect">
            <a:avLst/>
          </a:prstGeom>
        </p:spPr>
      </p:pic>
      <p:pic>
        <p:nvPicPr>
          <p:cNvPr id="15" name="Immagine 14" descr="Immagine che contiene testo, software, Software multimedial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1282B309-2031-E778-06D6-31EE469B71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609" t="50878" r="12973" b="26373"/>
          <a:stretch>
            <a:fillRect/>
          </a:stretch>
        </p:blipFill>
        <p:spPr>
          <a:xfrm>
            <a:off x="4976434" y="1632133"/>
            <a:ext cx="3763130" cy="114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6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44C86-62BC-1833-5119-FE58FEC0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0CFAB-3210-6F8C-1924-F3BBFEE0C80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879D1A-ED76-73E2-0F43-E690019B56A3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Σ</a:t>
            </a: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ᵢⱼ corridor-specific attractiveness</a:t>
            </a:r>
            <a:endParaRPr lang="en-US" sz="2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9B153E8F-55A0-340C-1459-B93E78970E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38394" y="2571750"/>
            <a:ext cx="4805606" cy="235602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71F0FE0-7649-A462-18C6-8B326D0E0489}"/>
              </a:ext>
            </a:extLst>
          </p:cNvPr>
          <p:cNvSpPr txBox="1"/>
          <p:nvPr/>
        </p:nvSpPr>
        <p:spPr>
          <a:xfrm>
            <a:off x="0" y="899219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Let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be a set of countries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indexed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by</a:t>
            </a:r>
            <a:r>
              <a:rPr lang="it-IT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i 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it-IT" sz="16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Define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the </a:t>
            </a:r>
            <a:r>
              <a:rPr lang="it-IT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corridor</a:t>
            </a:r>
            <a:r>
              <a:rPr lang="it-IT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attractiveness</a:t>
            </a:r>
            <a:r>
              <a:rPr lang="it-IT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matrix</a:t>
            </a:r>
            <a:endParaRPr lang="it-IT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it-IT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it-IT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it-IT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</a:t>
            </a:r>
            <a:r>
              <a:rPr lang="el-GR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Σ</a:t>
            </a:r>
            <a:r>
              <a:rPr lang="en-US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ᵢⱼ 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&gt; 0: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destination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attractive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from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origin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 (visa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openness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language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similarity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diaspora networks)</a:t>
            </a:r>
          </a:p>
          <a:p>
            <a:r>
              <a:rPr lang="it-IT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</a:t>
            </a:r>
            <a:r>
              <a:rPr lang="el-GR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Σ</a:t>
            </a:r>
            <a:r>
              <a:rPr lang="en-US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ᵢⱼ 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&lt; 0: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destination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repulsive from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origin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 (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political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tension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closed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borders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historical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conflict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r>
              <a:rPr lang="it-IT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</a:t>
            </a:r>
            <a:r>
              <a:rPr lang="el-GR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Σ</a:t>
            </a:r>
            <a:r>
              <a:rPr lang="en-US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ᵢⱼ 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= 0: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neutral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corridor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endParaRPr lang="it-IT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three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model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variants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differ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only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how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l-GR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Σ</a:t>
            </a:r>
            <a:r>
              <a:rPr lang="en-US" sz="16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ᵢⱼ 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</a:t>
            </a:r>
            <a:r>
              <a:rPr lang="it-IT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specified</a:t>
            </a:r>
            <a:endParaRPr lang="it-IT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214D1320-E9F2-0BF5-C600-53CD9987E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5794" y="1389410"/>
            <a:ext cx="3505200" cy="406400"/>
          </a:xfrm>
          <a:prstGeom prst="rect">
            <a:avLst/>
          </a:prstGeom>
        </p:spPr>
      </p:pic>
      <p:pic>
        <p:nvPicPr>
          <p:cNvPr id="22" name="Immagine 21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4D3CC4DC-7BC4-6A7E-6763-AE87631F27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931" t="60447" r="15071" b="21975"/>
          <a:stretch>
            <a:fillRect/>
          </a:stretch>
        </p:blipFill>
        <p:spPr>
          <a:xfrm>
            <a:off x="116540" y="3605786"/>
            <a:ext cx="4126237" cy="107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3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E2425-45B2-A7B4-3863-B7768C72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031924-FCBE-CD23-AA35-4F01F572A55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D09605-0A01-A51E-EA74-8E4D50B56423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B7B1F5-CBE6-E1F7-8825-4DFA9ED5B573}"/>
              </a:ext>
            </a:extLst>
          </p:cNvPr>
          <p:cNvSpPr/>
          <p:nvPr/>
        </p:nvSpPr>
        <p:spPr>
          <a:xfrm>
            <a:off x="365759" y="868680"/>
            <a:ext cx="8407909" cy="1513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FC9A3B-35F6-18EF-D4E1-0935025597FA}"/>
              </a:ext>
            </a:extLst>
          </p:cNvPr>
          <p:cNvSpPr/>
          <p:nvPr/>
        </p:nvSpPr>
        <p:spPr>
          <a:xfrm>
            <a:off x="365759" y="868680"/>
            <a:ext cx="8416678" cy="347472"/>
          </a:xfrm>
          <a:prstGeom prst="rect">
            <a:avLst/>
          </a:prstGeom>
          <a:solidFill>
            <a:srgbClr val="289D8F"/>
          </a:solidFill>
          <a:ln w="12700">
            <a:solidFill>
              <a:srgbClr val="28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8C9417-152D-F14C-0E8A-F2DDB1AC7030}"/>
              </a:ext>
            </a:extLst>
          </p:cNvPr>
          <p:cNvSpPr/>
          <p:nvPr/>
        </p:nvSpPr>
        <p:spPr>
          <a:xfrm>
            <a:off x="365760" y="3058312"/>
            <a:ext cx="8412480" cy="1513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57ED51-6500-6388-881A-879BF68F166F}"/>
              </a:ext>
            </a:extLst>
          </p:cNvPr>
          <p:cNvSpPr/>
          <p:nvPr/>
        </p:nvSpPr>
        <p:spPr>
          <a:xfrm>
            <a:off x="369958" y="3076320"/>
            <a:ext cx="8412479" cy="34747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E06197-6B9F-FFC8-2161-55CD4D8AEB44}"/>
              </a:ext>
            </a:extLst>
          </p:cNvPr>
          <p:cNvSpPr/>
          <p:nvPr/>
        </p:nvSpPr>
        <p:spPr>
          <a:xfrm>
            <a:off x="370330" y="868682"/>
            <a:ext cx="83846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Features-Enriched RM  (FERM)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9766B7-C40A-8B71-E06E-5A0790A4E82B}"/>
              </a:ext>
            </a:extLst>
          </p:cNvPr>
          <p:cNvSpPr/>
          <p:nvPr/>
        </p:nvSpPr>
        <p:spPr>
          <a:xfrm>
            <a:off x="507491" y="1298450"/>
            <a:ext cx="3566160" cy="1759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659EE6-3A1F-F67F-350B-91D5AB9A13C1}"/>
              </a:ext>
            </a:extLst>
          </p:cNvPr>
          <p:cNvSpPr/>
          <p:nvPr/>
        </p:nvSpPr>
        <p:spPr>
          <a:xfrm rot="5400000">
            <a:off x="4384551" y="25374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A0363FE-2BA0-E413-0C20-D36B88934A4B}"/>
              </a:ext>
            </a:extLst>
          </p:cNvPr>
          <p:cNvSpPr/>
          <p:nvPr/>
        </p:nvSpPr>
        <p:spPr>
          <a:xfrm>
            <a:off x="342526" y="3076320"/>
            <a:ext cx="8412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FERM</a:t>
            </a:r>
            <a:endParaRPr lang="en-US" sz="1300" dirty="0"/>
          </a:p>
        </p:txBody>
      </p:sp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AA797C18-BA7A-28E7-3F28-52D8F2CE7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01011" y="1508045"/>
            <a:ext cx="7750372" cy="533939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C924130D-70B0-A92D-CB5C-FC442DCF95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467" y="3712096"/>
            <a:ext cx="7772400" cy="54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5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FERM Works: The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737360"/>
          </a:xfrm>
          <a:prstGeom prst="rect">
            <a:avLst/>
          </a:prstGeom>
          <a:solidFill>
            <a:srgbClr val="0D2538"/>
          </a:solidFill>
          <a:ln w="254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11480" y="861505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8615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34073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thresholds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335024"/>
            <a:ext cx="373075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origin, we simulate n_particles migrant-particles.</a:t>
            </a:r>
            <a:b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particle draws one </a:t>
            </a: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threshold </a:t>
            </a: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max-of-mᵢ origin-specific distributions, e.g. N(</a:t>
            </a:r>
            <a:r>
              <a:rPr lang="el-GR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ᵢ, </a:t>
            </a:r>
            <a:r>
              <a:rPr lang="el-GR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σ). </a:t>
            </a:r>
            <a:endParaRPr lang="en-US" sz="1150" dirty="0">
              <a:solidFill>
                <a:srgbClr val="9BB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origin niche  →  higher thresholds on average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(migrants from attractive places are harder to satisfy)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023360" cy="1737360"/>
          </a:xfrm>
          <a:prstGeom prst="rect">
            <a:avLst/>
          </a:prstGeom>
          <a:solidFill>
            <a:srgbClr val="0D2538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800600" y="861505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00600" y="8615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834073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destinations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335024"/>
            <a:ext cx="373075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ranked by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origin, nearest first.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particle travels outward and stops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first destination that beats its threshold.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023360" cy="1737360"/>
          </a:xfrm>
          <a:prstGeom prst="rect">
            <a:avLst/>
          </a:prstGeom>
          <a:solidFill>
            <a:srgbClr val="0D2538"/>
          </a:solidFill>
          <a:ln w="2540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11480" y="2873185"/>
            <a:ext cx="457200" cy="45720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11480" y="28731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45753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absorbance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3346704"/>
            <a:ext cx="373075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stop j, a new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absorbance offer</a:t>
            </a: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drawn.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&gt; threshold  →  absorbed here, journey ends.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≤ threshold  →  particle moves 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737360"/>
          </a:xfrm>
          <a:prstGeom prst="rect">
            <a:avLst/>
          </a:prstGeom>
          <a:solidFill>
            <a:srgbClr val="0D2538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800600" y="2873185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00600" y="28731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45753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&amp; normalize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3346704"/>
            <a:ext cx="373075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n_particles have been assigned, we count how many are absorbed by each destination j.</a:t>
            </a:r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 absorbed by j gives the probability P(</a:t>
            </a:r>
            <a:r>
              <a:rPr lang="en-US" sz="1150" dirty="0" err="1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j).</a:t>
            </a:r>
          </a:p>
          <a:p>
            <a:pPr marL="0" indent="0" algn="l">
              <a:buNone/>
            </a:pPr>
            <a:endParaRPr lang="en-US" sz="1150" dirty="0">
              <a:solidFill>
                <a:srgbClr val="9BB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this for every origin builds the full OD probability matrix.</a:t>
            </a:r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A152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Efficiency trick: for Gaussians instead of drawing mᵢ samples and taking max, use the inverse-CDF shortcut: 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μ + σ · Φ⁻¹(U^(1/n))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Niche: Encoding Location Attractiveness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niche?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023360" cy="1708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niche is the normalized country-level feature that modulates the benefit distribution μᵢ in FERM. A higher niche value shifts the Gaussian to the right, making a location more likely to offer a winning absorbance. </a:t>
            </a:r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10972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846320" y="224028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846320" y="2240280"/>
            <a:ext cx="10972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846320" y="35661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846320" y="3566160"/>
            <a:ext cx="10972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D99ED1B0-474F-8DCD-6EB8-5DF821CA9E6D}"/>
              </a:ext>
            </a:extLst>
          </p:cNvPr>
          <p:cNvSpPr/>
          <p:nvPr/>
        </p:nvSpPr>
        <p:spPr>
          <a:xfrm>
            <a:off x="5047488" y="9738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per capita 2018</a:t>
            </a:r>
            <a:endParaRPr lang="en-US" sz="13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7A540A75-C2CC-3DD4-56F5-24828BB17E32}"/>
              </a:ext>
            </a:extLst>
          </p:cNvPr>
          <p:cNvSpPr/>
          <p:nvPr/>
        </p:nvSpPr>
        <p:spPr>
          <a:xfrm>
            <a:off x="5047488" y="126644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Economic output per person. Strong proxy for job opportunities and wages. [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245.66, 188 298.32]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69DD2E0-E3BF-EFEC-260F-6312E471031B}"/>
              </a:ext>
            </a:extLst>
          </p:cNvPr>
          <p:cNvSpPr/>
          <p:nvPr/>
        </p:nvSpPr>
        <p:spPr>
          <a:xfrm>
            <a:off x="5047488" y="22974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Connectedness Index 2021</a:t>
            </a:r>
            <a:endParaRPr lang="en-US" sz="13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74C9C539-384D-F822-5183-0794B7F9345C}"/>
              </a:ext>
            </a:extLst>
          </p:cNvPr>
          <p:cNvSpPr/>
          <p:nvPr/>
        </p:nvSpPr>
        <p:spPr>
          <a:xfrm>
            <a:off x="5047488" y="259003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[48, 37 967 668]</a:t>
            </a: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9EBF3B9E-AC14-0200-E903-3E0861E21286}"/>
              </a:ext>
            </a:extLst>
          </p:cNvPr>
          <p:cNvSpPr/>
          <p:nvPr/>
        </p:nvSpPr>
        <p:spPr>
          <a:xfrm>
            <a:off x="5047488" y="3602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Religion</a:t>
            </a:r>
            <a:endParaRPr lang="en-US" sz="13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5710E60D-C5D6-BEBB-C846-1BAD992622A4}"/>
              </a:ext>
            </a:extLst>
          </p:cNvPr>
          <p:cNvSpPr/>
          <p:nvPr/>
        </p:nvSpPr>
        <p:spPr>
          <a:xfrm>
            <a:off x="5047488" y="39136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Measures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religious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similarity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between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origin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i and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destination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j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.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Higher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values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mean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stronger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common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religious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composition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. [0, 0.997]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2087E387-9A93-120D-ECA8-D93F5822E281}"/>
              </a:ext>
            </a:extLst>
          </p:cNvPr>
          <p:cNvSpPr/>
          <p:nvPr/>
        </p:nvSpPr>
        <p:spPr>
          <a:xfrm>
            <a:off x="365760" y="2698089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0D997D7D-70C6-CD1A-B41C-8FEF9262D652}"/>
              </a:ext>
            </a:extLst>
          </p:cNvPr>
          <p:cNvSpPr/>
          <p:nvPr/>
        </p:nvSpPr>
        <p:spPr>
          <a:xfrm>
            <a:off x="365760" y="2698089"/>
            <a:ext cx="109728" cy="1143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E1CB088-A136-FF92-2FD3-F41181F35110}"/>
              </a:ext>
            </a:extLst>
          </p:cNvPr>
          <p:cNvSpPr/>
          <p:nvPr/>
        </p:nvSpPr>
        <p:spPr>
          <a:xfrm>
            <a:off x="566928" y="275752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Diplomatic Disagreement </a:t>
            </a:r>
            <a:endParaRPr lang="en-US" sz="13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55F90AAF-031E-ED96-30F3-5BECC8BD4553}"/>
              </a:ext>
            </a:extLst>
          </p:cNvPr>
          <p:cNvSpPr/>
          <p:nvPr/>
        </p:nvSpPr>
        <p:spPr>
          <a:xfrm>
            <a:off x="566928" y="3050133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Measures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political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diplomatic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disagreement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between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countries.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Higher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values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mean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more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disagreement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. [0, 4.617]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41565A9-0043-8DF7-9435-5EB35509AD5E}"/>
              </a:ext>
            </a:extLst>
          </p:cNvPr>
          <p:cNvSpPr/>
          <p:nvPr/>
        </p:nvSpPr>
        <p:spPr>
          <a:xfrm>
            <a:off x="365760" y="395478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FCFECE2D-018B-8857-3FC5-33338B4F7724}"/>
              </a:ext>
            </a:extLst>
          </p:cNvPr>
          <p:cNvSpPr/>
          <p:nvPr/>
        </p:nvSpPr>
        <p:spPr>
          <a:xfrm>
            <a:off x="365760" y="3954780"/>
            <a:ext cx="109728" cy="1143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2E181B31-D24D-4069-9D53-B29D06B848C9}"/>
              </a:ext>
            </a:extLst>
          </p:cNvPr>
          <p:cNvSpPr/>
          <p:nvPr/>
        </p:nvSpPr>
        <p:spPr>
          <a:xfrm>
            <a:off x="548640" y="399227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300" b="1" dirty="0">
                <a:latin typeface="Cambria" panose="02040503050406030204" pitchFamily="18" charset="0"/>
              </a:rPr>
              <a:t>Abel </a:t>
            </a:r>
            <a:r>
              <a:rPr lang="it-IT" sz="1300" b="1" dirty="0" err="1">
                <a:latin typeface="Cambria" panose="02040503050406030204" pitchFamily="18" charset="0"/>
              </a:rPr>
              <a:t>Migrant</a:t>
            </a:r>
            <a:r>
              <a:rPr lang="it-IT" sz="1300" b="1" dirty="0">
                <a:latin typeface="Cambria" panose="02040503050406030204" pitchFamily="18" charset="0"/>
              </a:rPr>
              <a:t> Stock 2005-2010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BDDDA051-E35F-786F-CB9E-59D3BEE9EBDA}"/>
              </a:ext>
            </a:extLst>
          </p:cNvPr>
          <p:cNvSpPr/>
          <p:nvPr/>
        </p:nvSpPr>
        <p:spPr>
          <a:xfrm>
            <a:off x="566928" y="43068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4627FB54-AFC1-8E7E-1481-902344931418}"/>
              </a:ext>
            </a:extLst>
          </p:cNvPr>
          <p:cNvSpPr/>
          <p:nvPr/>
        </p:nvSpPr>
        <p:spPr>
          <a:xfrm>
            <a:off x="566928" y="4304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Measures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historical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corridor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strength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using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50000"/>
                  </a:schemeClr>
                </a:solidFill>
              </a:rPr>
              <a:t>migrant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</a:rPr>
              <a:t> stocks. [0, 6 825 626]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12610-0730-6C6B-4E32-24AFEC79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E34E3B-2586-CC57-EC1D-DF2F1AF6B62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269D1F-56D9-E075-1715-FADA259411F3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Niche: Encoding Location Attractiveness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42BD29-5C68-904A-6614-0185EA223442}"/>
              </a:ext>
            </a:extLst>
          </p:cNvPr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normalize?</a:t>
            </a:r>
            <a:endParaRPr lang="en-US" sz="16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8D5C2C29-E000-0CC9-0593-45648C89B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314" y="2191550"/>
            <a:ext cx="5921842" cy="2806401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31116EFA-F1E0-45CD-147D-C006EF52E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0" y="1573498"/>
            <a:ext cx="1836031" cy="371256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D346387-9DB5-B78F-C85A-683EDD2C46FB}"/>
              </a:ext>
            </a:extLst>
          </p:cNvPr>
          <p:cNvSpPr txBox="1"/>
          <p:nvPr/>
        </p:nvSpPr>
        <p:spPr>
          <a:xfrm>
            <a:off x="1093195" y="1300605"/>
            <a:ext cx="729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Min max</a:t>
            </a:r>
          </a:p>
        </p:txBody>
      </p: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2564444D-1EDA-E83F-06EB-C84F03282B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831" y="2337099"/>
            <a:ext cx="1838609" cy="531341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8B13FC1-4567-9CAE-11A7-8D58D7D026EA}"/>
              </a:ext>
            </a:extLst>
          </p:cNvPr>
          <p:cNvSpPr txBox="1"/>
          <p:nvPr/>
        </p:nvSpPr>
        <p:spPr>
          <a:xfrm>
            <a:off x="966558" y="2021213"/>
            <a:ext cx="983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Log Min max</a:t>
            </a:r>
          </a:p>
        </p:txBody>
      </p:sp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39D940B9-C26A-4663-2BF5-06281C4F0D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495" y="1276076"/>
            <a:ext cx="1226611" cy="663450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C8AC88F-0E26-0E2D-9209-E5B1058265F0}"/>
              </a:ext>
            </a:extLst>
          </p:cNvPr>
          <p:cNvSpPr txBox="1"/>
          <p:nvPr/>
        </p:nvSpPr>
        <p:spPr>
          <a:xfrm>
            <a:off x="3283450" y="999077"/>
            <a:ext cx="712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Log </a:t>
            </a:r>
            <a:r>
              <a:rPr lang="it-IT" sz="1200" dirty="0" err="1"/>
              <a:t>rank</a:t>
            </a:r>
            <a:endParaRPr lang="it-IT" sz="1200" dirty="0"/>
          </a:p>
        </p:txBody>
      </p:sp>
      <p:pic>
        <p:nvPicPr>
          <p:cNvPr id="33" name="Elemento grafico 32">
            <a:extLst>
              <a:ext uri="{FF2B5EF4-FFF2-40B4-BE49-F238E27FC236}">
                <a16:creationId xmlns:a16="http://schemas.microsoft.com/office/drawing/2014/main" id="{7B3E975D-9997-04E6-7252-2E12E6D507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6612" y="1175947"/>
            <a:ext cx="1328385" cy="738604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23C3004-8E20-3E72-D2CB-EB80EDE427B0}"/>
              </a:ext>
            </a:extLst>
          </p:cNvPr>
          <p:cNvSpPr txBox="1"/>
          <p:nvPr/>
        </p:nvSpPr>
        <p:spPr>
          <a:xfrm>
            <a:off x="7643578" y="879624"/>
            <a:ext cx="814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log-</a:t>
            </a:r>
            <a:r>
              <a:rPr lang="it-IT" sz="1200" dirty="0" err="1"/>
              <a:t>zscore</a:t>
            </a:r>
            <a:endParaRPr lang="it-IT" sz="1200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5C0E76B6-AD3D-B3CF-5445-B99A1AA6551A}"/>
              </a:ext>
            </a:extLst>
          </p:cNvPr>
          <p:cNvSpPr txBox="1"/>
          <p:nvPr/>
        </p:nvSpPr>
        <p:spPr>
          <a:xfrm>
            <a:off x="4911660" y="989902"/>
            <a:ext cx="19971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Abel </a:t>
            </a:r>
            <a:r>
              <a:rPr lang="it-IT" sz="1200" dirty="0" err="1"/>
              <a:t>expected</a:t>
            </a:r>
            <a:r>
              <a:rPr lang="it-IT" sz="1200" dirty="0"/>
              <a:t>-stock log ratio</a:t>
            </a:r>
          </a:p>
        </p:txBody>
      </p:sp>
      <p:pic>
        <p:nvPicPr>
          <p:cNvPr id="45" name="Elemento grafico 44">
            <a:extLst>
              <a:ext uri="{FF2B5EF4-FFF2-40B4-BE49-F238E27FC236}">
                <a16:creationId xmlns:a16="http://schemas.microsoft.com/office/drawing/2014/main" id="{8B229113-BBCB-1AD2-38A2-DF370088D8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05116" y="1266901"/>
            <a:ext cx="1099235" cy="54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0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EA84D-228C-9E76-137D-04842452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7C7F63-2D4B-7F3B-7FCD-5FF0AF6CDEB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25E5A9-E599-ADB2-A06E-3E78188E85CD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Niche: Encoding Location Attractiveness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EE07A2-EF32-B7B4-5C27-2FAD97E7F8DA}"/>
              </a:ext>
            </a:extLst>
          </p:cNvPr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normalize?</a:t>
            </a:r>
            <a:endParaRPr lang="en-US" sz="1600" dirty="0"/>
          </a:p>
        </p:txBody>
      </p:sp>
      <p:pic>
        <p:nvPicPr>
          <p:cNvPr id="6" name="Immagine 5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18ADD61F-B89A-D345-E4FD-8435A88B3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" y="1406347"/>
            <a:ext cx="9001274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41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B38C8-065E-EC43-DF31-50F2E34B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C10E98-D25A-9126-C848-7D0381D8FAA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D261D3-3D43-C69E-FC0C-FEC67853AEF5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Niche: Encoding Location Attractiveness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83B939-75F8-A541-428A-B5D11AF2F3DF}"/>
              </a:ext>
            </a:extLst>
          </p:cNvPr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normalize?</a:t>
            </a:r>
            <a:endParaRPr lang="en-US" sz="1600" dirty="0"/>
          </a:p>
        </p:txBody>
      </p:sp>
      <p:pic>
        <p:nvPicPr>
          <p:cNvPr id="7" name="Immagine 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995195A5-C446-F518-560C-045FA1AAA3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911"/>
          <a:stretch>
            <a:fillRect/>
          </a:stretch>
        </p:blipFill>
        <p:spPr>
          <a:xfrm>
            <a:off x="30517" y="1261872"/>
            <a:ext cx="4426199" cy="3427169"/>
          </a:xfrm>
          <a:prstGeom prst="rect">
            <a:avLst/>
          </a:prstGeom>
        </p:spPr>
      </p:pic>
      <p:pic>
        <p:nvPicPr>
          <p:cNvPr id="10" name="Immagine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FFE298E0-5A6D-5910-8A4A-8623ABBF7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133"/>
          <a:stretch>
            <a:fillRect/>
          </a:stretch>
        </p:blipFill>
        <p:spPr>
          <a:xfrm>
            <a:off x="4480560" y="1797708"/>
            <a:ext cx="4585235" cy="23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52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D4AE9-B8B6-8E32-0B74-488B722C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0EAE81-DC62-594C-240C-D9544EE5C96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9DCD8E-2C45-B488-9024-57FE4A198BE7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Niche: Encoding Location Attractiveness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2598EA-212C-F4BF-70B6-7FD1429473E8}"/>
              </a:ext>
            </a:extLst>
          </p:cNvPr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1600" dirty="0"/>
          </a:p>
        </p:txBody>
      </p:sp>
      <p:pic>
        <p:nvPicPr>
          <p:cNvPr id="9" name="Immagine 8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0C46C202-E089-5426-D134-7BD2DC24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08" y="1188720"/>
            <a:ext cx="5863983" cy="374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69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AA676-C98B-08AF-85F5-F589C16E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EFFE12-963E-6F99-893A-6CA8BCD12AE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840EF0-099E-CA04-EF93-1DDB23090759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2200" dirty="0"/>
          </a:p>
        </p:txBody>
      </p:sp>
      <p:pic>
        <p:nvPicPr>
          <p:cNvPr id="6" name="Immagine 5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C8DB474-F87F-1905-5122-BABAAC00D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748669"/>
            <a:ext cx="7044538" cy="431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8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7E61E-49D1-81F6-B7DD-9B74E42E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5A5684-2A1C-797F-0A7C-E0C604D30F0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0CE226-A472-046D-8B8A-1C5BC7E3B193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22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DBDF1F7-B985-138A-8F3F-723D325E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0432" y="840444"/>
            <a:ext cx="7044538" cy="413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0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FCBE7-2C45-C4F8-D2AB-4B0F3F41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94035D-940B-5C8F-B25F-3FAD3BFB83C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B39522-8A22-D75A-E93B-E3C7C68E9EFF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2200" dirty="0"/>
          </a:p>
        </p:txBody>
      </p:sp>
      <p:pic>
        <p:nvPicPr>
          <p:cNvPr id="8" name="Immagine 7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88F43F93-AE35-003A-943D-D19ACB39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958" y="1053537"/>
            <a:ext cx="5702084" cy="376800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2A737CB-C7AC-0ECD-35C9-726313C86663}"/>
              </a:ext>
            </a:extLst>
          </p:cNvPr>
          <p:cNvSpPr txBox="1"/>
          <p:nvPr/>
        </p:nvSpPr>
        <p:spPr>
          <a:xfrm>
            <a:off x="2282343" y="2382969"/>
            <a:ext cx="457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1" dirty="0">
                <a:solidFill>
                  <a:srgbClr val="1A1C1F"/>
                </a:solidFill>
                <a:effectLst/>
                <a:latin typeface="-apple-system"/>
              </a:rPr>
              <a:t>The gains are </a:t>
            </a:r>
            <a:r>
              <a:rPr lang="it-IT" b="0" i="1" dirty="0" err="1">
                <a:solidFill>
                  <a:srgbClr val="1A1C1F"/>
                </a:solidFill>
                <a:effectLst/>
                <a:latin typeface="-apple-system"/>
              </a:rPr>
              <a:t>not</a:t>
            </a:r>
            <a:r>
              <a:rPr lang="it-IT" b="0" i="1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it-IT" b="0" i="1" dirty="0" err="1">
                <a:solidFill>
                  <a:srgbClr val="1A1C1F"/>
                </a:solidFill>
                <a:effectLst/>
                <a:latin typeface="-apple-system"/>
              </a:rPr>
              <a:t>uniform</a:t>
            </a:r>
            <a:r>
              <a:rPr lang="it-IT" b="0" i="1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it-IT" b="0" i="1" dirty="0" err="1">
                <a:solidFill>
                  <a:srgbClr val="1A1C1F"/>
                </a:solidFill>
                <a:effectLst/>
                <a:latin typeface="-apple-system"/>
              </a:rPr>
              <a:t>across</a:t>
            </a:r>
            <a:r>
              <a:rPr lang="it-IT" b="0" i="1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it-IT" b="0" i="1" dirty="0" err="1">
                <a:solidFill>
                  <a:srgbClr val="1A1C1F"/>
                </a:solidFill>
                <a:effectLst/>
                <a:latin typeface="-apple-system"/>
              </a:rPr>
              <a:t>routes</a:t>
            </a:r>
            <a:r>
              <a:rPr lang="it-IT" b="0" i="1" dirty="0">
                <a:solidFill>
                  <a:srgbClr val="1A1C1F"/>
                </a:solidFill>
                <a:effectLst/>
                <a:latin typeface="-apple-system"/>
              </a:rPr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9244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E616A-751D-1BDA-818F-49267316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2E5143-ACD6-88E9-4626-11E198E1D27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FC6527-39A0-2DC5-D19D-76A2679BC9E5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2200" dirty="0"/>
          </a:p>
        </p:txBody>
      </p:sp>
      <p:pic>
        <p:nvPicPr>
          <p:cNvPr id="5" name="Immagine 4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AEFE2D7-4EB7-9B56-DEDD-194FF4831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7996"/>
            <a:ext cx="7772400" cy="36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14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D6EC0-E9F7-8510-EEEC-8BEDACFF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885C27-8EA3-D207-A363-D203EA51F9D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A0A335-532E-11F9-0D7A-022E2D1F62BB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2200" dirty="0"/>
          </a:p>
        </p:txBody>
      </p:sp>
      <p:pic>
        <p:nvPicPr>
          <p:cNvPr id="5" name="Immagine 4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94A1BD26-6D6B-AFA3-69BE-EDD2B5AE4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7996"/>
            <a:ext cx="7772400" cy="3683394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E971C371-AAA2-BD67-42F2-22B731D185F6}"/>
              </a:ext>
            </a:extLst>
          </p:cNvPr>
          <p:cNvSpPr/>
          <p:nvPr/>
        </p:nvSpPr>
        <p:spPr>
          <a:xfrm>
            <a:off x="777241" y="3299155"/>
            <a:ext cx="7589520" cy="104916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FF5BEC-DCAF-D480-C718-3121383371C8}"/>
              </a:ext>
            </a:extLst>
          </p:cNvPr>
          <p:cNvSpPr txBox="1"/>
          <p:nvPr/>
        </p:nvSpPr>
        <p:spPr>
          <a:xfrm>
            <a:off x="777241" y="4213555"/>
            <a:ext cx="177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Working </a:t>
            </a:r>
            <a:r>
              <a:rPr lang="it-IT" b="1" dirty="0" err="1">
                <a:solidFill>
                  <a:srgbClr val="C00000"/>
                </a:solidFill>
              </a:rPr>
              <a:t>great</a:t>
            </a:r>
            <a:r>
              <a:rPr lang="it-IT" b="1" dirty="0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94640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6DF01-651C-30F6-A933-DA901CC9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556E87-CEF3-EF2A-6D19-444CFDD2266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F984B3-FD5E-711E-3A6F-36E6C255E4A8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are working better?</a:t>
            </a:r>
            <a:endParaRPr lang="en-US" sz="2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5AFF896-8A09-3D9F-ECA4-6BC00D45D1BA}"/>
              </a:ext>
            </a:extLst>
          </p:cNvPr>
          <p:cNvSpPr txBox="1"/>
          <p:nvPr/>
        </p:nvSpPr>
        <p:spPr>
          <a:xfrm>
            <a:off x="1997964" y="805636"/>
            <a:ext cx="514807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b="1" dirty="0" err="1">
                <a:solidFill>
                  <a:srgbClr val="C00000"/>
                </a:solidFill>
              </a:rPr>
              <a:t>What</a:t>
            </a:r>
            <a:r>
              <a:rPr lang="it-IT" sz="6600" b="1" dirty="0">
                <a:solidFill>
                  <a:srgbClr val="C00000"/>
                </a:solidFill>
              </a:rPr>
              <a:t> </a:t>
            </a:r>
            <a:r>
              <a:rPr lang="it-IT" sz="6600" b="1" dirty="0" err="1">
                <a:solidFill>
                  <a:srgbClr val="C00000"/>
                </a:solidFill>
              </a:rPr>
              <a:t>if</a:t>
            </a:r>
            <a:r>
              <a:rPr lang="it-IT" sz="6600" b="1" dirty="0">
                <a:solidFill>
                  <a:srgbClr val="C00000"/>
                </a:solidFill>
              </a:rPr>
              <a:t> </a:t>
            </a:r>
            <a:r>
              <a:rPr lang="it-IT" sz="6600" b="1" dirty="0" err="1">
                <a:solidFill>
                  <a:srgbClr val="C00000"/>
                </a:solidFill>
              </a:rPr>
              <a:t>we</a:t>
            </a:r>
            <a:r>
              <a:rPr lang="it-IT" sz="6600" b="1" dirty="0">
                <a:solidFill>
                  <a:srgbClr val="C00000"/>
                </a:solidFill>
              </a:rPr>
              <a:t> combine the best working features??</a:t>
            </a:r>
          </a:p>
        </p:txBody>
      </p:sp>
    </p:spTree>
    <p:extLst>
      <p:ext uri="{BB962C8B-B14F-4D97-AF65-F5344CB8AC3E}">
        <p14:creationId xmlns:p14="http://schemas.microsoft.com/office/powerpoint/2010/main" val="820052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AB72F-49D0-876D-AC73-DCFE20376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B04D0F-99EC-6474-57A7-95C7E486C11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D8C882-E20E-2496-3D0B-7D12265AD7B6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GDP per capita and SCI</a:t>
            </a:r>
            <a:endParaRPr lang="en-US" sz="2200" dirty="0"/>
          </a:p>
        </p:txBody>
      </p:sp>
      <p:pic>
        <p:nvPicPr>
          <p:cNvPr id="5" name="Immagine 4" descr="Immagine che contiene schermata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141A04D9-45F7-71A1-88FA-762EE43CE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30681"/>
            <a:ext cx="7772400" cy="36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7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01201-88B8-000E-4BA9-4BA89179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94E898-9363-3576-97B6-C803C420B60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D313BF-483E-5B43-CA70-E29A1DE81C43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GDP per capita and SCI</a:t>
            </a:r>
            <a:endParaRPr lang="en-US" sz="2200" dirty="0"/>
          </a:p>
        </p:txBody>
      </p:sp>
      <p:pic>
        <p:nvPicPr>
          <p:cNvPr id="6" name="Immagine 5" descr="Immagine che contiene linea, diagramma, Diagramma, pendio&#10;&#10;Il contenuto generato dall'IA potrebbe non essere corretto.">
            <a:extLst>
              <a:ext uri="{FF2B5EF4-FFF2-40B4-BE49-F238E27FC236}">
                <a16:creationId xmlns:a16="http://schemas.microsoft.com/office/drawing/2014/main" id="{155B23AC-6AF4-94D7-CA3E-46DC4F3EC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62" y="1411835"/>
            <a:ext cx="8714875" cy="29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12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D8333-CD9E-F3DE-94B2-80EAA825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0FCB4A-A87F-B035-E0B3-8713398CD85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DF61ED-0AB4-1821-12DD-4D84EB0D0EC9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GDP per capita and SCI</a:t>
            </a:r>
            <a:endParaRPr lang="en-US" sz="2200" dirty="0"/>
          </a:p>
        </p:txBody>
      </p:sp>
      <p:pic>
        <p:nvPicPr>
          <p:cNvPr id="5" name="Immagine 4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EA4D3BF6-D410-83AD-2C86-2821D759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49" y="848687"/>
            <a:ext cx="6305702" cy="402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22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AE128-F197-D717-61A9-94F0B2B6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9592AB-B6C5-FD4B-F4C6-0B3A76628D4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005050-D130-F2CA-F08D-44E42BC65015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GDP per capita and SCI</a:t>
            </a:r>
            <a:endParaRPr lang="en-US" sz="2200" dirty="0"/>
          </a:p>
        </p:txBody>
      </p:sp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62CCE64-725E-7E35-6793-01A231AD2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390" y="741152"/>
            <a:ext cx="5295219" cy="44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66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907A4-C86D-27DF-C48F-2A6D34A1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3516D0-F058-0651-267F-43E8D3F6161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D59AA5-0ED6-9E7D-E8A9-07A8D5A86BFE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GDP per capita and SCI</a:t>
            </a:r>
            <a:endParaRPr lang="en-US" sz="2200" dirty="0"/>
          </a:p>
        </p:txBody>
      </p:sp>
      <p:pic>
        <p:nvPicPr>
          <p:cNvPr id="5" name="Immagine 4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AD1A74D-3D8D-F65D-04EF-FFC6A613F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8464"/>
            <a:ext cx="7772400" cy="367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33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6">
            <a:extLst>
              <a:ext uri="{FF2B5EF4-FFF2-40B4-BE49-F238E27FC236}">
                <a16:creationId xmlns:a16="http://schemas.microsoft.com/office/drawing/2014/main" id="{BECEAA77-0E83-6FE9-55DB-68DD5C8A94FC}"/>
              </a:ext>
            </a:extLst>
          </p:cNvPr>
          <p:cNvSpPr/>
          <p:nvPr/>
        </p:nvSpPr>
        <p:spPr>
          <a:xfrm>
            <a:off x="4754882" y="1499680"/>
            <a:ext cx="4023360" cy="530352"/>
          </a:xfrm>
          <a:prstGeom prst="rect">
            <a:avLst/>
          </a:prstGeom>
          <a:solidFill>
            <a:srgbClr val="F5F0E9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88EA4519-3920-206C-B71B-F4DA04EA85D5}"/>
              </a:ext>
            </a:extLst>
          </p:cNvPr>
          <p:cNvSpPr/>
          <p:nvPr/>
        </p:nvSpPr>
        <p:spPr>
          <a:xfrm>
            <a:off x="4754882" y="839634"/>
            <a:ext cx="4023360" cy="530352"/>
          </a:xfrm>
          <a:prstGeom prst="rect">
            <a:avLst/>
          </a:prstGeom>
          <a:solidFill>
            <a:srgbClr val="F5F0E9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B9075721-BE36-4D26-0FA0-02A093B641F0}"/>
              </a:ext>
            </a:extLst>
          </p:cNvPr>
          <p:cNvSpPr/>
          <p:nvPr/>
        </p:nvSpPr>
        <p:spPr>
          <a:xfrm>
            <a:off x="365758" y="841439"/>
            <a:ext cx="4023360" cy="530352"/>
          </a:xfrm>
          <a:prstGeom prst="rect">
            <a:avLst/>
          </a:prstGeom>
          <a:solidFill>
            <a:srgbClr val="F5F0E9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755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9505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/ Meta bilateral country-level flows (pre-COVID period)</a:t>
            </a:r>
            <a:endParaRPr lang="en-US" sz="1100" dirty="0">
              <a:solidFill>
                <a:srgbClr val="0C1B2A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497390"/>
            <a:ext cx="4023360" cy="530352"/>
          </a:xfrm>
          <a:prstGeom prst="rect">
            <a:avLst/>
          </a:prstGeom>
          <a:solidFill>
            <a:srgbClr val="F5F0E9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53396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5342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population estimates from the World Bank</a:t>
            </a:r>
            <a:endParaRPr lang="en-US" sz="1100" dirty="0">
              <a:solidFill>
                <a:srgbClr val="0C1B2A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92042" y="8755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2" y="109505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centroids for distance matrix</a:t>
            </a:r>
            <a:endParaRPr lang="en-US" sz="1100" dirty="0">
              <a:solidFill>
                <a:srgbClr val="0C1B2A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92042" y="153396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2" y="175342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 2020(UN), GDP per capita 2018(WB), Migrant stock 2019(UN)</a:t>
            </a:r>
            <a:endParaRPr lang="en-US" sz="1100" dirty="0">
              <a:solidFill>
                <a:srgbClr val="0C1B2A"/>
              </a:solidFill>
            </a:endParaRP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89773ED1-7B43-7815-A676-3F7D069F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09" y="2214246"/>
            <a:ext cx="6161781" cy="27676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E2D4D-3DE0-A822-5090-5F0B5DB4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E11510-E59A-1145-3CF6-1256245FF1C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B2A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E4347C-2EAE-E63D-45BB-E48808D1D2BC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Snapshot</a:t>
            </a:r>
            <a:endParaRPr lang="en-US" sz="22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63E80B2-F7C2-70AE-C9A4-D309EA6B2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950091"/>
            <a:ext cx="7531100" cy="3937000"/>
          </a:xfrm>
          <a:prstGeom prst="rect">
            <a:avLst/>
          </a:prstGeom>
        </p:spPr>
      </p:pic>
      <p:sp>
        <p:nvSpPr>
          <p:cNvPr id="18" name="Shape 9">
            <a:extLst>
              <a:ext uri="{FF2B5EF4-FFF2-40B4-BE49-F238E27FC236}">
                <a16:creationId xmlns:a16="http://schemas.microsoft.com/office/drawing/2014/main" id="{46BBA065-0894-EE7F-CC74-B234D73CBF45}"/>
              </a:ext>
            </a:extLst>
          </p:cNvPr>
          <p:cNvSpPr/>
          <p:nvPr/>
        </p:nvSpPr>
        <p:spPr>
          <a:xfrm>
            <a:off x="7350305" y="4796028"/>
            <a:ext cx="104052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AAC9E18-C29B-3871-C67C-0E1554F97828}"/>
              </a:ext>
            </a:extLst>
          </p:cNvPr>
          <p:cNvSpPr/>
          <p:nvPr/>
        </p:nvSpPr>
        <p:spPr>
          <a:xfrm>
            <a:off x="7402331" y="4806319"/>
            <a:ext cx="17416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per capita 2018</a:t>
            </a:r>
            <a:endParaRPr lang="en-US" sz="13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8AC9A5B-5D13-D674-C7DA-4B9091CCB258}"/>
              </a:ext>
            </a:extLst>
          </p:cNvPr>
          <p:cNvSpPr/>
          <p:nvPr/>
        </p:nvSpPr>
        <p:spPr>
          <a:xfrm>
            <a:off x="0" y="746525"/>
            <a:ext cx="2187388" cy="203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σ=5.0, n=500k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98141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76448-0116-FF98-BA8A-8976458B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495EE-8D2E-466C-9F4D-A4EC696B0B1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A1D4D5-F1A5-5E5B-EF08-A0622E12C3B8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Strategy: Asia</a:t>
            </a:r>
            <a:endParaRPr lang="en-US" sz="22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9FC6CEBF-F023-762E-3625-6C6695418AF6}"/>
              </a:ext>
            </a:extLst>
          </p:cNvPr>
          <p:cNvSpPr/>
          <p:nvPr/>
        </p:nvSpPr>
        <p:spPr>
          <a:xfrm>
            <a:off x="365759" y="748561"/>
            <a:ext cx="481306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parameters are tuned via grid search on pre-COVID flows:</a:t>
            </a:r>
            <a:endParaRPr lang="en-US" sz="1200" dirty="0">
              <a:solidFill>
                <a:srgbClr val="0C1B2A"/>
              </a:solidFill>
            </a:endParaRPr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A9C94D1C-1836-E2FB-086E-5F4393C8FCFD}"/>
              </a:ext>
            </a:extLst>
          </p:cNvPr>
          <p:cNvSpPr/>
          <p:nvPr/>
        </p:nvSpPr>
        <p:spPr>
          <a:xfrm>
            <a:off x="477980" y="1160041"/>
            <a:ext cx="3977640" cy="1188720"/>
          </a:xfrm>
          <a:prstGeom prst="rect">
            <a:avLst/>
          </a:prstGeom>
          <a:solidFill>
            <a:srgbClr val="0D2538"/>
          </a:solidFill>
          <a:ln w="127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94B5EC89-E8CD-3231-E463-9454504A4B24}"/>
              </a:ext>
            </a:extLst>
          </p:cNvPr>
          <p:cNvSpPr/>
          <p:nvPr/>
        </p:nvSpPr>
        <p:spPr>
          <a:xfrm>
            <a:off x="615140" y="123319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300" dirty="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46A3D5D4-C5D9-18D2-371C-74C4B834A12A}"/>
              </a:ext>
            </a:extLst>
          </p:cNvPr>
          <p:cNvSpPr/>
          <p:nvPr/>
        </p:nvSpPr>
        <p:spPr>
          <a:xfrm>
            <a:off x="615140" y="1525801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0.1, 0.2, 0.5, 1, 2, 5, 10, 20, 50</a:t>
            </a:r>
            <a:endParaRPr lang="en-US" sz="10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47B41DC6-5033-139B-7EFE-CDEC605E354A}"/>
              </a:ext>
            </a:extLst>
          </p:cNvPr>
          <p:cNvSpPr/>
          <p:nvPr/>
        </p:nvSpPr>
        <p:spPr>
          <a:xfrm>
            <a:off x="615140" y="178183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sharpness of niche contrast. Large σ → FERM collapses toward RM.</a:t>
            </a:r>
            <a:endParaRPr lang="en-US" sz="11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55E6E564-6CFC-8D2E-A17B-BB7389F785BA}"/>
              </a:ext>
            </a:extLst>
          </p:cNvPr>
          <p:cNvSpPr/>
          <p:nvPr/>
        </p:nvSpPr>
        <p:spPr>
          <a:xfrm>
            <a:off x="615140" y="2056153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5.0 (all niches)</a:t>
            </a:r>
            <a:endParaRPr lang="en-US" sz="1100" dirty="0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12600B17-CD8D-2894-220A-71603983F056}"/>
              </a:ext>
            </a:extLst>
          </p:cNvPr>
          <p:cNvSpPr/>
          <p:nvPr/>
        </p:nvSpPr>
        <p:spPr>
          <a:xfrm>
            <a:off x="4800601" y="1160041"/>
            <a:ext cx="3977640" cy="1188720"/>
          </a:xfrm>
          <a:prstGeom prst="rect">
            <a:avLst/>
          </a:prstGeom>
          <a:solidFill>
            <a:srgbClr val="0D2538"/>
          </a:solidFill>
          <a:ln w="127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47AB955E-0B54-C567-899D-AE37C8723E40}"/>
              </a:ext>
            </a:extLst>
          </p:cNvPr>
          <p:cNvSpPr/>
          <p:nvPr/>
        </p:nvSpPr>
        <p:spPr>
          <a:xfrm>
            <a:off x="4937761" y="123319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n_particles</a:t>
            </a:r>
            <a:endParaRPr lang="en-US" sz="13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9CDF1949-39A4-4D79-A872-9FB4CAB043DD}"/>
              </a:ext>
            </a:extLst>
          </p:cNvPr>
          <p:cNvSpPr/>
          <p:nvPr/>
        </p:nvSpPr>
        <p:spPr>
          <a:xfrm>
            <a:off x="4937761" y="1525801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10k · 50k · 250k · 500k · 750k</a:t>
            </a:r>
            <a:endParaRPr lang="en-US" sz="10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ABAF7043-4060-0E08-6B3F-0DEDFFF7ABC8}"/>
              </a:ext>
            </a:extLst>
          </p:cNvPr>
          <p:cNvSpPr/>
          <p:nvPr/>
        </p:nvSpPr>
        <p:spPr>
          <a:xfrm>
            <a:off x="4937761" y="178183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sample size. More = more accurate but slower.</a:t>
            </a:r>
            <a:endParaRPr lang="en-US" sz="110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B2E5D0CB-63A6-EEA0-F0EB-5055509D4B7B}"/>
              </a:ext>
            </a:extLst>
          </p:cNvPr>
          <p:cNvSpPr/>
          <p:nvPr/>
        </p:nvSpPr>
        <p:spPr>
          <a:xfrm>
            <a:off x="4937761" y="2056153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500k – 750k</a:t>
            </a:r>
            <a:endParaRPr lang="en-US" sz="1100" dirty="0"/>
          </a:p>
        </p:txBody>
      </p:sp>
      <p:pic>
        <p:nvPicPr>
          <p:cNvPr id="49" name="Immagine 48">
            <a:extLst>
              <a:ext uri="{FF2B5EF4-FFF2-40B4-BE49-F238E27FC236}">
                <a16:creationId xmlns:a16="http://schemas.microsoft.com/office/drawing/2014/main" id="{57443E2E-4AA4-13F5-28AC-31F36A3B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0" y="2559073"/>
            <a:ext cx="4274820" cy="2344879"/>
          </a:xfrm>
          <a:prstGeom prst="rect">
            <a:avLst/>
          </a:prstGeom>
        </p:spPr>
      </p:pic>
      <p:pic>
        <p:nvPicPr>
          <p:cNvPr id="50" name="Immagine 49">
            <a:extLst>
              <a:ext uri="{FF2B5EF4-FFF2-40B4-BE49-F238E27FC236}">
                <a16:creationId xmlns:a16="http://schemas.microsoft.com/office/drawing/2014/main" id="{FD6B635C-F012-4BD2-9DB9-244DA5FC2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71750"/>
            <a:ext cx="4274820" cy="2344879"/>
          </a:xfrm>
          <a:prstGeom prst="rect">
            <a:avLst/>
          </a:prstGeom>
        </p:spPr>
      </p:pic>
      <p:sp>
        <p:nvSpPr>
          <p:cNvPr id="53" name="Shape 9">
            <a:extLst>
              <a:ext uri="{FF2B5EF4-FFF2-40B4-BE49-F238E27FC236}">
                <a16:creationId xmlns:a16="http://schemas.microsoft.com/office/drawing/2014/main" id="{CBF384DE-9D6D-1326-E627-641A8F504C43}"/>
              </a:ext>
            </a:extLst>
          </p:cNvPr>
          <p:cNvSpPr/>
          <p:nvPr/>
        </p:nvSpPr>
        <p:spPr>
          <a:xfrm>
            <a:off x="7350305" y="4796028"/>
            <a:ext cx="104052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FA0EC4CE-DCB1-ABAB-411C-717EC9E64B41}"/>
              </a:ext>
            </a:extLst>
          </p:cNvPr>
          <p:cNvSpPr/>
          <p:nvPr/>
        </p:nvSpPr>
        <p:spPr>
          <a:xfrm>
            <a:off x="7402331" y="4806319"/>
            <a:ext cx="18362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stock 2019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66613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60BF0-C7A5-2D75-541C-B34C6BA59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D9BBA9-27D4-9070-057B-E4E7A3BF107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7B91FE-11E0-2E99-6F50-F910467E91D3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Asia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58B7083-8173-D708-EAF6-A3CD60830062}"/>
              </a:ext>
            </a:extLst>
          </p:cNvPr>
          <p:cNvSpPr/>
          <p:nvPr/>
        </p:nvSpPr>
        <p:spPr>
          <a:xfrm>
            <a:off x="119939" y="788179"/>
            <a:ext cx="4037608" cy="14019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7844A6-7A18-5880-3B97-30851FA053EE}"/>
              </a:ext>
            </a:extLst>
          </p:cNvPr>
          <p:cNvSpPr/>
          <p:nvPr/>
        </p:nvSpPr>
        <p:spPr>
          <a:xfrm>
            <a:off x="119937" y="788180"/>
            <a:ext cx="4037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HDI 2020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EB7314-8A95-9E99-ECA8-15EFE1A6CBC4}"/>
              </a:ext>
            </a:extLst>
          </p:cNvPr>
          <p:cNvSpPr/>
          <p:nvPr/>
        </p:nvSpPr>
        <p:spPr>
          <a:xfrm>
            <a:off x="119937" y="1227092"/>
            <a:ext cx="4037610" cy="203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σ=5.0, n=500k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E82BB5-B13E-6D4C-EFAD-F203A5D6E58D}"/>
              </a:ext>
            </a:extLst>
          </p:cNvPr>
          <p:cNvSpPr/>
          <p:nvPr/>
        </p:nvSpPr>
        <p:spPr>
          <a:xfrm>
            <a:off x="119938" y="1430658"/>
            <a:ext cx="4037609" cy="759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gains on wealthy destination routes</a:t>
            </a:r>
            <a:endParaRPr lang="en-US" sz="1200" dirty="0"/>
          </a:p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correlated with HDI in Asia</a:t>
            </a:r>
            <a:endParaRPr lang="en-US" sz="1200" dirty="0"/>
          </a:p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→ India: large flow, well predicted</a:t>
            </a:r>
            <a:endParaRPr lang="en-US" sz="12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D4196ACD-C608-779B-85EE-E4799FB10D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591" y="2488507"/>
            <a:ext cx="2551534" cy="2515812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A9352FA0-FBC5-B9A2-7448-A0DCA7C5E2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96351" y="1620663"/>
            <a:ext cx="4885098" cy="3109740"/>
          </a:xfrm>
          <a:prstGeom prst="rect">
            <a:avLst/>
          </a:prstGeom>
        </p:spPr>
      </p:pic>
      <p:sp>
        <p:nvSpPr>
          <p:cNvPr id="4" name="Shape 9">
            <a:extLst>
              <a:ext uri="{FF2B5EF4-FFF2-40B4-BE49-F238E27FC236}">
                <a16:creationId xmlns:a16="http://schemas.microsoft.com/office/drawing/2014/main" id="{1D42D88E-A5A7-1555-00CF-6DFD5CC6F1BB}"/>
              </a:ext>
            </a:extLst>
          </p:cNvPr>
          <p:cNvSpPr/>
          <p:nvPr/>
        </p:nvSpPr>
        <p:spPr>
          <a:xfrm>
            <a:off x="119936" y="799475"/>
            <a:ext cx="4037607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4D235FA-BAE0-4C08-D545-013CF6ED1D87}"/>
              </a:ext>
            </a:extLst>
          </p:cNvPr>
          <p:cNvSpPr/>
          <p:nvPr/>
        </p:nvSpPr>
        <p:spPr>
          <a:xfrm>
            <a:off x="229809" y="799475"/>
            <a:ext cx="3839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per capita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08711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Asia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9939" y="788179"/>
            <a:ext cx="4037608" cy="14019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19938" y="788180"/>
            <a:ext cx="4037609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9937" y="788180"/>
            <a:ext cx="4037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HDI 2020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937" y="1227092"/>
            <a:ext cx="4037610" cy="203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σ=5.0, n=750k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9938" y="1430658"/>
            <a:ext cx="4037609" cy="759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improvement over RM on high-HDI corridors</a:t>
            </a:r>
            <a:endParaRPr lang="en-US" sz="1200" dirty="0"/>
          </a:p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→ Yemen: correctly downweighted</a:t>
            </a:r>
            <a:endParaRPr lang="en-US" sz="1200" dirty="0"/>
          </a:p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→ UAE: boosted by UAE high HDI</a:t>
            </a:r>
            <a:endParaRPr lang="en-US" sz="12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2BCF402F-FAB5-A396-D589-3FBEA4205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591" y="2470646"/>
            <a:ext cx="2551534" cy="2551534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7571EBBD-1AE5-F8AC-5FF4-C89FD123DF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96351" y="1620663"/>
            <a:ext cx="4885099" cy="310974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E9D17-3215-D00A-4D24-7645F2971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7C0B9-2A0B-61C3-73FC-2875CD163EB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12827B-20D8-4193-C2C3-FD54A3399451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Asia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ADCB3A-4B40-C5BF-4B78-91DCA41084C7}"/>
              </a:ext>
            </a:extLst>
          </p:cNvPr>
          <p:cNvSpPr/>
          <p:nvPr/>
        </p:nvSpPr>
        <p:spPr>
          <a:xfrm>
            <a:off x="119939" y="788179"/>
            <a:ext cx="4037608" cy="14019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0C8CDB-3BFC-53B8-B3D1-F035E83DB77D}"/>
              </a:ext>
            </a:extLst>
          </p:cNvPr>
          <p:cNvSpPr/>
          <p:nvPr/>
        </p:nvSpPr>
        <p:spPr>
          <a:xfrm>
            <a:off x="119937" y="1227092"/>
            <a:ext cx="4037610" cy="203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σ=5.0, n=500k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DCFB22-B3F5-1E06-1F8F-A3424D600898}"/>
              </a:ext>
            </a:extLst>
          </p:cNvPr>
          <p:cNvSpPr/>
          <p:nvPr/>
        </p:nvSpPr>
        <p:spPr>
          <a:xfrm>
            <a:off x="119938" y="1430658"/>
            <a:ext cx="4037609" cy="759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network effects (diaspora pull)</a:t>
            </a:r>
            <a:endParaRPr lang="en-US" sz="1200" dirty="0"/>
          </a:p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→ Iraq: improved route</a:t>
            </a:r>
          </a:p>
          <a:p>
            <a:pPr algn="ctr">
              <a:spcAft>
                <a:spcPts val="500"/>
              </a:spcAft>
              <a:buSzPct val="100000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India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Japan/Korea: improved route</a:t>
            </a:r>
            <a:endParaRPr lang="en-US" sz="12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07D8B915-3917-7C25-7C76-0AF5B2BD7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591" y="2493518"/>
            <a:ext cx="2551534" cy="2505789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6FCAFB28-2BB9-A107-3A12-DF7C6C58CB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96351" y="1620663"/>
            <a:ext cx="4885098" cy="3109740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88B6032B-547A-C907-B834-E735BDE685E3}"/>
              </a:ext>
            </a:extLst>
          </p:cNvPr>
          <p:cNvSpPr/>
          <p:nvPr/>
        </p:nvSpPr>
        <p:spPr>
          <a:xfrm>
            <a:off x="119936" y="788178"/>
            <a:ext cx="4037607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BCF4C5FB-C293-157B-BE73-479C592570E5}"/>
              </a:ext>
            </a:extLst>
          </p:cNvPr>
          <p:cNvSpPr/>
          <p:nvPr/>
        </p:nvSpPr>
        <p:spPr>
          <a:xfrm>
            <a:off x="229810" y="788178"/>
            <a:ext cx="3839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Migrant stock 2018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18380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B7086-D4B2-A6E9-2AC4-ECC018ED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E4A8A1-5348-6B2D-22E7-C9CF88C49ED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0737D8-6793-5BC0-DBC8-98BF0757BDFB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Asia, why the outliers?</a:t>
            </a:r>
            <a:endParaRPr lang="en-US" sz="22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897AA1BC-87F3-1706-495A-58B24FD0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4047" y="825412"/>
            <a:ext cx="4153644" cy="4079176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7AF88708-40D2-598F-F512-1EF24FED7CD8}"/>
              </a:ext>
            </a:extLst>
          </p:cNvPr>
          <p:cNvSpPr/>
          <p:nvPr/>
        </p:nvSpPr>
        <p:spPr>
          <a:xfrm>
            <a:off x="8444926" y="1011050"/>
            <a:ext cx="457201" cy="430306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DC36BB5C-DEF7-E16C-460A-741FA9603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570114"/>
              </p:ext>
            </p:extLst>
          </p:nvPr>
        </p:nvGraphicFramePr>
        <p:xfrm>
          <a:off x="111176" y="3125546"/>
          <a:ext cx="4460824" cy="19507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5206">
                  <a:extLst>
                    <a:ext uri="{9D8B030D-6E8A-4147-A177-3AD203B41FA5}">
                      <a16:colId xmlns:a16="http://schemas.microsoft.com/office/drawing/2014/main" val="1398672589"/>
                    </a:ext>
                  </a:extLst>
                </a:gridCol>
                <a:gridCol w="1115206">
                  <a:extLst>
                    <a:ext uri="{9D8B030D-6E8A-4147-A177-3AD203B41FA5}">
                      <a16:colId xmlns:a16="http://schemas.microsoft.com/office/drawing/2014/main" val="2317046335"/>
                    </a:ext>
                  </a:extLst>
                </a:gridCol>
                <a:gridCol w="1115206">
                  <a:extLst>
                    <a:ext uri="{9D8B030D-6E8A-4147-A177-3AD203B41FA5}">
                      <a16:colId xmlns:a16="http://schemas.microsoft.com/office/drawing/2014/main" val="2927224297"/>
                    </a:ext>
                  </a:extLst>
                </a:gridCol>
                <a:gridCol w="1115206">
                  <a:extLst>
                    <a:ext uri="{9D8B030D-6E8A-4147-A177-3AD203B41FA5}">
                      <a16:colId xmlns:a16="http://schemas.microsoft.com/office/drawing/2014/main" val="1438601686"/>
                    </a:ext>
                  </a:extLst>
                </a:gridCol>
              </a:tblGrid>
              <a:tr h="440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b="1" dirty="0">
                          <a:solidFill>
                            <a:srgbClr val="1A1C1F"/>
                          </a:solidFill>
                          <a:effectLst/>
                        </a:rPr>
                        <a:t>Origin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b="1" dirty="0" err="1">
                          <a:solidFill>
                            <a:srgbClr val="1A1C1F"/>
                          </a:solidFill>
                          <a:effectLst/>
                        </a:rPr>
                        <a:t>Destination</a:t>
                      </a:r>
                      <a:endParaRPr lang="it-IT" sz="13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b="1" dirty="0" err="1">
                          <a:solidFill>
                            <a:srgbClr val="1A1C1F"/>
                          </a:solidFill>
                          <a:effectLst/>
                        </a:rPr>
                        <a:t>Observed</a:t>
                      </a:r>
                      <a:r>
                        <a:rPr lang="it-IT" sz="1300" b="1" dirty="0">
                          <a:solidFill>
                            <a:srgbClr val="1A1C1F"/>
                          </a:solidFill>
                          <a:effectLst/>
                        </a:rPr>
                        <a:t> flow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b="1" dirty="0" err="1">
                          <a:solidFill>
                            <a:srgbClr val="1A1C1F"/>
                          </a:solidFill>
                          <a:effectLst/>
                        </a:rPr>
                        <a:t>Predicted</a:t>
                      </a:r>
                      <a:r>
                        <a:rPr lang="it-IT" sz="1300" b="1" dirty="0">
                          <a:solidFill>
                            <a:srgbClr val="1A1C1F"/>
                          </a:solidFill>
                          <a:effectLst/>
                        </a:rPr>
                        <a:t> flow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277193"/>
                  </a:ext>
                </a:extLst>
              </a:tr>
              <a:tr h="2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India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Pakistan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361 393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360670"/>
                  </a:ext>
                </a:extLst>
              </a:tr>
              <a:tr h="2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Pakistan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India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303 882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840977"/>
                  </a:ext>
                </a:extLst>
              </a:tr>
              <a:tr h="2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 err="1">
                          <a:effectLst/>
                        </a:rPr>
                        <a:t>Turkey</a:t>
                      </a:r>
                      <a:endParaRPr lang="it-IT" sz="1300" dirty="0">
                        <a:effectLst/>
                      </a:endParaRP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Cyprus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11 698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841400"/>
                  </a:ext>
                </a:extLst>
              </a:tr>
              <a:tr h="2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>
                          <a:effectLst/>
                        </a:rPr>
                        <a:t>Syria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Israel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5 303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44741"/>
                  </a:ext>
                </a:extLst>
              </a:tr>
              <a:tr h="2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Israel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Syria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1 483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61650"/>
                  </a:ext>
                </a:extLst>
              </a:tr>
              <a:tr h="2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Cyprus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 err="1">
                          <a:effectLst/>
                        </a:rPr>
                        <a:t>Turkey</a:t>
                      </a:r>
                      <a:endParaRPr lang="it-IT" sz="1300" dirty="0">
                        <a:effectLst/>
                      </a:endParaRP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300" dirty="0">
                          <a:effectLst/>
                        </a:rPr>
                        <a:t>420</a:t>
                      </a:r>
                    </a:p>
                  </a:txBody>
                  <a:tcPr marL="26832" marR="26832" marT="26832" marB="26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107633"/>
                  </a:ext>
                </a:extLst>
              </a:tr>
            </a:tbl>
          </a:graphicData>
        </a:graphic>
      </p:graphicFrame>
      <p:pic>
        <p:nvPicPr>
          <p:cNvPr id="13" name="Immagine 12">
            <a:extLst>
              <a:ext uri="{FF2B5EF4-FFF2-40B4-BE49-F238E27FC236}">
                <a16:creationId xmlns:a16="http://schemas.microsoft.com/office/drawing/2014/main" id="{4EEB1E3A-46B6-9900-D618-A1EC6BC661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176" y="801833"/>
            <a:ext cx="1950747" cy="192343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F873072F-4A6F-3A90-0654-46B3B4B637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41588" y="788178"/>
            <a:ext cx="1950747" cy="1950747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371B74A-5EEE-A16F-BDE6-B85ECD1D4617}"/>
              </a:ext>
            </a:extLst>
          </p:cNvPr>
          <p:cNvSpPr/>
          <p:nvPr/>
        </p:nvSpPr>
        <p:spPr>
          <a:xfrm>
            <a:off x="4007840" y="884162"/>
            <a:ext cx="331076" cy="32607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4CDA0147-E3B4-C4A4-BBB3-94CC2553172F}"/>
              </a:ext>
            </a:extLst>
          </p:cNvPr>
          <p:cNvSpPr/>
          <p:nvPr/>
        </p:nvSpPr>
        <p:spPr>
          <a:xfrm>
            <a:off x="1777428" y="858940"/>
            <a:ext cx="331076" cy="32607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CC0FD2D-BB06-2F78-8D2B-E177B7F9BE0A}"/>
              </a:ext>
            </a:extLst>
          </p:cNvPr>
          <p:cNvSpPr txBox="1"/>
          <p:nvPr/>
        </p:nvSpPr>
        <p:spPr>
          <a:xfrm>
            <a:off x="111176" y="2727399"/>
            <a:ext cx="446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problems!</a:t>
            </a:r>
            <a:endParaRPr lang="it-IT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28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FERM Corrects Over 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061520"/>
          </a:solidFill>
          <a:ln w="1905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Asia is informative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countries are highly heterogeneous in income, development, openness, and migration appeal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countries are not necessarily the most attractive destinations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distance, and attractiveness are often misaligned</a:t>
            </a:r>
            <a:br>
              <a:rPr lang="en-US" sz="12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3566160"/>
          </a:xfrm>
          <a:prstGeom prst="rect">
            <a:avLst/>
          </a:prstGeom>
          <a:solidFill>
            <a:srgbClr val="1A060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FERM Still Struggles</a:t>
            </a:r>
          </a:p>
        </p:txBody>
      </p:sp>
      <p:sp>
        <p:nvSpPr>
          <p:cNvPr id="12" name="Text 10"/>
          <p:cNvSpPr/>
          <p:nvPr/>
        </p:nvSpPr>
        <p:spPr>
          <a:xfrm>
            <a:off x="4983480" y="153619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 cannot fully correct cases where geography and population dominate the flow structure.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 shaped by political constraints, conflict or diaspora networks may not be captured by a simple niche variable.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countries are relatively homogeneous, as in Europe, RM may already perform well because distance, population and attractiveness are more aligned.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niche variable cannot explain all route types simultaneously.</a:t>
            </a:r>
            <a:b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B6CA8">
              <a:alpha val="12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niche redirects flows while population still controls scale. the two sources of information are balanced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 (log z-score) is a robust calibration across all three niches tested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HDI, GDP and migrant percentage each give complementary signals, migration seems like a slightly better indicator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 gains most on corridors where wealth gap is large and population alone misleads 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234440"/>
            <a:ext cx="3977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niches (multi-feature FERM)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regions: Africa, Americas??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cs typeface="Calibri" pitchFamily="34" charset="-120"/>
              </a:rPr>
              <a:t>Improve feature normalization technics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cs typeface="Calibri" pitchFamily="34" charset="-120"/>
              </a:rPr>
              <a:t>Define a corridor-based approach?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Vittoria Bettio· Features-Enriched Radiation Model · Robustness meeting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24675</TotalTime>
  <Words>1331</Words>
  <Application>Microsoft Macintosh PowerPoint</Application>
  <PresentationFormat>Presentazione su schermo (16:9)</PresentationFormat>
  <Paragraphs>241</Paragraphs>
  <Slides>32</Slides>
  <Notes>32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9" baseType="lpstr">
      <vt:lpstr>-apple-system</vt:lpstr>
      <vt:lpstr>Arial</vt:lpstr>
      <vt:lpstr>Calibri</vt:lpstr>
      <vt:lpstr>Cambria</vt:lpstr>
      <vt:lpstr>Cambria Math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 – Features-Enriched Radiation Model</dc:title>
  <dc:subject>PptxGenJS Presentation</dc:subject>
  <dc:creator>PptxGenJS</dc:creator>
  <cp:lastModifiedBy>Vittoria Bettio</cp:lastModifiedBy>
  <cp:revision>12</cp:revision>
  <dcterms:created xsi:type="dcterms:W3CDTF">2026-04-14T14:09:38Z</dcterms:created>
  <dcterms:modified xsi:type="dcterms:W3CDTF">2026-06-16T11:52:01Z</dcterms:modified>
</cp:coreProperties>
</file>