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1663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3544" y="4754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012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FERM keeps the radiation mechanism and changes the attractiveness matrix.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formulation, Sigma construction, normalization, and out-of-sample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Sigma_ij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4178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corridor attractiveness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15468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65C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0.037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154680" y="4178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median improvement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57784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0.562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577840" y="4178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 share better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00100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24.7%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01000" y="4178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won by SCI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13232" y="4937760"/>
            <a:ext cx="10652760" cy="86868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065776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59536" y="5358384"/>
            <a:ext cx="10360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extension is not a different mobility process. It is a different parameterization of attractiveness within the same radiation-style absorption framework.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 and presentation_ferm_results.ipynb.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Migration attractiveness is not only destination-specific.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destination can be more or less attractive depending on the origin corridor.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514600" cy="1143000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75688"/>
            <a:ext cx="22951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Destination-level attractiveness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mu_j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25146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538728"/>
            <a:ext cx="22951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j looks the same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every origin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2697480" cy="1143000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075688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Corridor-specific attractiveness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delta_ij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429000"/>
            <a:ext cx="26974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3538728"/>
            <a:ext cx="24780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j can look different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origin i versus origin 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523744"/>
            <a:ext cx="731520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09560" y="1828800"/>
            <a:ext cx="3246120" cy="23317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195681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bilateral signals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055864" y="2249424"/>
            <a:ext cx="29535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connectedness, common language or religion, visa openness, diaspora networks, diplomatic relations, historical ties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909560" y="4434840"/>
            <a:ext cx="3246120" cy="100584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5864" y="456285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055864" y="485546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corridor-specific attractiveness improve route-level predictions without changing the radiation mechanism?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radiation-style mechanism is sequential absorption by distance.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Particles leave an origin, inspect destinations in increasing distance order, and stop at the first successful offer.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60020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50008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 emitted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600200" cy="594360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355848"/>
            <a:ext cx="1380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T_i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240280"/>
            <a:ext cx="1325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350008"/>
            <a:ext cx="1106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k1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B_i1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2240280"/>
            <a:ext cx="1325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2350008"/>
            <a:ext cx="1106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B_i2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651760"/>
            <a:ext cx="39319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240280"/>
            <a:ext cx="1325880" cy="841248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2350008"/>
            <a:ext cx="1106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B_i3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2651760"/>
            <a:ext cx="39319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240280"/>
            <a:ext cx="1325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2350008"/>
            <a:ext cx="1106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farther k3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B_i4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2651760"/>
            <a:ext cx="39319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42032" y="2651760"/>
            <a:ext cx="795528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611880" y="3977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P(i -&gt; j) = p_ij × product over closer k of (1 - p_ik)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5020056"/>
            <a:ext cx="10131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060704" y="5312664"/>
            <a:ext cx="10131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FERM and relational FERM do not change this scanning process. They change the centers of the latent threshold and offer distributions.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VARIABLES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Thresholds and offers are latent maxima centered by Sigma.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enters through the maximum over many Gaussian draws; attractiveness shifts the mean of those draws.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251960" cy="1325880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938528"/>
            <a:ext cx="4032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side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T_i ~ max over m_i draws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N(Sigma_ii, sigma^2)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4251960" cy="1325880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938528"/>
            <a:ext cx="4032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side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B_ij ~ max over n_j draws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N(Sigma_ij, sigma^2)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49240" y="2487168"/>
            <a:ext cx="822960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3840480"/>
            <a:ext cx="4754880" cy="100584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968496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060704" y="4261104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m_i and n_j affect the distributions through maxima: larger populations generate more extreme thresholds/offers.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263640" y="3840480"/>
            <a:ext cx="4754880" cy="100584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3968496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sigma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409944" y="4261104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uses one sigma as the shared spread of the Gaussian sampling kernel. Larger sigma dilutes the effect of Sigma centers.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 MATRIX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attractiveness matrix unifies RM, traditional FERM, and relational FERM.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diagonal controls origin thresholds; off-diagonal entries control origin-destination offers.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25296" y="149047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630936" cy="630936"/>
          </a:xfrm>
          <a:prstGeom prst="rect">
            <a:avLst/>
          </a:prstGeom>
          <a:solidFill>
            <a:srgbClr val="DC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025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F73"/>
                </a:solidFill>
              </a:rPr>
              <a:t>Σii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664208" y="1783080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025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322576" y="1783080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20025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980944" y="1783080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025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639312" y="1783080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0025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21792" y="26243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83664" y="149047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5840" y="2441448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664208" y="2441448"/>
            <a:ext cx="630936" cy="630936"/>
          </a:xfrm>
          <a:prstGeom prst="rect">
            <a:avLst/>
          </a:prstGeom>
          <a:solidFill>
            <a:srgbClr val="DC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F73"/>
                </a:solidFill>
              </a:rPr>
              <a:t>Σii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322576" y="2441448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22576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980944" y="2441448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639312" y="2441448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21792" y="32826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42032" y="149047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5840" y="3099816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3192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664208" y="3099816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64208" y="33192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322576" y="3099816"/>
            <a:ext cx="630936" cy="630936"/>
          </a:xfrm>
          <a:prstGeom prst="rect">
            <a:avLst/>
          </a:prstGeom>
          <a:solidFill>
            <a:srgbClr val="DC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22576" y="33192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F73"/>
                </a:solidFill>
              </a:rPr>
              <a:t>Σii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980944" y="3099816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80944" y="33192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639312" y="3099816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33192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21792" y="394106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0" y="149047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05840" y="3758184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39776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1664208" y="3758184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64208" y="39776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2322576" y="3758184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22576" y="39776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2980944" y="3758184"/>
            <a:ext cx="630936" cy="630936"/>
          </a:xfrm>
          <a:prstGeom prst="rect">
            <a:avLst/>
          </a:prstGeom>
          <a:solidFill>
            <a:srgbClr val="DC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80944" y="39776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F73"/>
                </a:solidFill>
              </a:rPr>
              <a:t>Σii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3639312" y="3758184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39312" y="39776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21792" y="459943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58768" y="149047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C"/>
                </a:solidFill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05840" y="4416552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" y="463600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1664208" y="4416552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64208" y="463600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2322576" y="4416552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22576" y="463600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2980944" y="4416552"/>
            <a:ext cx="630936" cy="630936"/>
          </a:xfrm>
          <a:prstGeom prst="rect">
            <a:avLst/>
          </a:prstGeom>
          <a:solidFill>
            <a:srgbClr val="F1D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80944" y="463600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5C2A"/>
                </a:solidFill>
              </a:rPr>
              <a:t>Σij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3639312" y="4416552"/>
            <a:ext cx="630936" cy="630936"/>
          </a:xfrm>
          <a:prstGeom prst="rect">
            <a:avLst/>
          </a:prstGeom>
          <a:solidFill>
            <a:srgbClr val="DC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39312" y="463600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F73"/>
                </a:solidFill>
              </a:rPr>
              <a:t>Σii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4983480" y="1828800"/>
            <a:ext cx="2788920" cy="105156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9784" y="1956816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Diagonal</a:t>
            </a:r>
            <a:endParaRPr lang="en-US" sz="1020" dirty="0"/>
          </a:p>
        </p:txBody>
      </p:sp>
      <p:sp>
        <p:nvSpPr>
          <p:cNvPr id="68" name="Text 66"/>
          <p:cNvSpPr/>
          <p:nvPr/>
        </p:nvSpPr>
        <p:spPr>
          <a:xfrm>
            <a:off x="5129784" y="2249424"/>
            <a:ext cx="2496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Sigma_ii centers the threshold distribution at origin i.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8092440" y="1828800"/>
            <a:ext cx="2788920" cy="105156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38744" y="1956816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Off-diagonal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8238744" y="2249424"/>
            <a:ext cx="2496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centers the offer distribution for corridor i -&gt; j.</a:t>
            </a:r>
            <a:endParaRPr lang="en-US" sz="1180" dirty="0"/>
          </a:p>
        </p:txBody>
      </p:sp>
      <p:sp>
        <p:nvSpPr>
          <p:cNvPr id="72" name="Shape 70"/>
          <p:cNvSpPr/>
          <p:nvPr/>
        </p:nvSpPr>
        <p:spPr>
          <a:xfrm>
            <a:off x="4983480" y="3703320"/>
            <a:ext cx="5943600" cy="9601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9784" y="3831336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view</a:t>
            </a:r>
            <a:endParaRPr lang="en-US" sz="1020" dirty="0"/>
          </a:p>
        </p:txBody>
      </p:sp>
      <p:sp>
        <p:nvSpPr>
          <p:cNvPr id="74" name="Text 72"/>
          <p:cNvSpPr/>
          <p:nvPr/>
        </p:nvSpPr>
        <p:spPr>
          <a:xfrm>
            <a:off x="5129784" y="4123944"/>
            <a:ext cx="5650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destination is not intrinsically attractive in the same way from every origin. The row matters.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FAMILY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variants differ only by the structure imposed on Sigma.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conceptual clarity of the matrix formulation.</a:t>
            </a:r>
            <a:endParaRPr lang="en-US" sz="133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627632"/>
          <a:ext cx="10835640" cy="3063240"/>
        </p:xfrm>
        <a:graphic>
          <a:graphicData uri="http://schemas.openxmlformats.org/drawingml/2006/table">
            <a:tbl>
              <a:tblPr/>
              <a:tblGrid>
                <a:gridCol w="1965960"/>
                <a:gridCol w="3429000"/>
                <a:gridCol w="5394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 structure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Sigma_ii = 0, Sigma_ij = 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feature-based attractiveness.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Traditional FERM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Sigma_ii = mu_i, Sigma_ij = mu_j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Destination-specific attractiveness; rows are identical.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Sigma_ii = 0, Sigma_ij = delta_ij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Thresholds neutral; offers become corridor-specific.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Combined model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Sigma_ii = mu_i, Sigma_ij = f(mu_j, delta_ij)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Destination and corridor information together.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3232" y="1627632"/>
            <a:ext cx="10835640" cy="347472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5294376"/>
            <a:ext cx="10040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1060704" y="5586984"/>
            <a:ext cx="10040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 is the corridor-specific case: Sigma_ii is kept neutral and Sigma_ij encodes bilateral attraction or repulsion.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the relational specification, all bilateral information lives on the offer side.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are neutral; corridors shift destination offers.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2103120" cy="822960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50008"/>
            <a:ext cx="1883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threshold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Sigma_ii = 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691640"/>
            <a:ext cx="2057400" cy="822960"/>
          </a:xfrm>
          <a:prstGeom prst="rect">
            <a:avLst/>
          </a:prstGeom>
          <a:solidFill>
            <a:srgbClr val="F4DADA"/>
          </a:solidFill>
          <a:ln w="8890">
            <a:solidFill>
              <a:srgbClr val="F4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1801368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corridor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&lt;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743200"/>
            <a:ext cx="2057400" cy="822960"/>
          </a:xfrm>
          <a:prstGeom prst="rect">
            <a:avLst/>
          </a:prstGeom>
          <a:solidFill>
            <a:srgbClr val="EEF1E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2852928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corridor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=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794760"/>
            <a:ext cx="2057400" cy="822960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3904488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corridor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&gt; 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63240" y="2651760"/>
            <a:ext cx="594360" cy="-566928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2651760"/>
            <a:ext cx="594360" cy="50292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63240" y="2651760"/>
            <a:ext cx="594360" cy="155448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1600200"/>
            <a:ext cx="4251960" cy="118872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1728216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75704" y="2020824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positive corridor shifts the offer distribution upward and increases the chance of absorption before farther destinations are reached.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629400" y="3246120"/>
            <a:ext cx="4251960" cy="105156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3374136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unchanged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775704" y="366674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particle still scans destinations in distance order. Relational FERM only changes the mean of B_ij.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Sigma controls direction; sigma controls how sharply the feature matters.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distinction is crucial for interpreting validation curves.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92808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&gt;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attractive than neutral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2926080" cy="822960"/>
          </a:xfrm>
          <a:prstGeom prst="rect">
            <a:avLst/>
          </a:prstGeom>
          <a:solidFill>
            <a:srgbClr val="EEF1E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08152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=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corridor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2926080" cy="914400"/>
          </a:xfrm>
          <a:prstGeom prst="rect">
            <a:avLst/>
          </a:prstGeom>
          <a:solidFill>
            <a:srgbClr val="F4DADA"/>
          </a:solidFill>
          <a:ln w="8890">
            <a:solidFill>
              <a:srgbClr val="F4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24528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Sigma_ij &lt;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repulsive than neutral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2834640" cy="9601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95681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sigma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855464" y="2249424"/>
            <a:ext cx="2542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Centers matter strongly; Sigma has a stronger effect on absorption.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2834640" cy="96012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195681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sigma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055864" y="2249424"/>
            <a:ext cx="2542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spread dominates center differences; the model moves closer to RM-like behavior.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4800600" y="4069080"/>
            <a:ext cx="5394960" cy="0"/>
          </a:xfrm>
          <a:prstGeom prst="line">
            <a:avLst/>
          </a:prstGeom>
          <a:noFill/>
          <a:ln w="17780">
            <a:solidFill>
              <a:srgbClr val="CBD0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3434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27C"/>
                </a:solidFill>
              </a:rPr>
              <a:t>feature influence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98280" y="4343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27C"/>
                </a:solidFill>
              </a:rPr>
              <a:t>RM-like dilution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7673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73"/>
                </a:solidFill>
              </a:rPr>
              <a:t>small sigma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37673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65C2A"/>
                </a:solidFill>
              </a:rPr>
              <a:t>large sigma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SIGMA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empirical task is to build a meaningful Sigma matrix.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only as good as the feature and normalization used to construct Sigma.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2057400" cy="420624"/>
          </a:xfrm>
          <a:prstGeom prst="rect">
            <a:avLst/>
          </a:prstGeom>
          <a:solidFill>
            <a:srgbClr val="F1DDD2"/>
          </a:solidFill>
          <a:ln w="8890">
            <a:solidFill>
              <a:srgbClr val="F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099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170992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destination-level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636776"/>
            <a:ext cx="2194560" cy="310896"/>
          </a:xfrm>
          <a:prstGeom prst="roundRect">
            <a:avLst/>
          </a:prstGeom>
          <a:solidFill>
            <a:srgbClr val="F1DDD2"/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1705356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FERM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258568"/>
            <a:ext cx="2057400" cy="420624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36829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stock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36829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historical corridor stock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2295144"/>
            <a:ext cx="2194560" cy="310896"/>
          </a:xfrm>
          <a:prstGeom prst="roundRect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2363724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2916936"/>
            <a:ext cx="2057400" cy="420624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02666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connectedness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02666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bilateral social tie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2953512"/>
            <a:ext cx="2194560" cy="310896"/>
          </a:xfrm>
          <a:prstGeom prst="roundRect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3022092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" y="3575304"/>
            <a:ext cx="2057400" cy="420624"/>
          </a:xfrm>
          <a:prstGeom prst="rect">
            <a:avLst/>
          </a:prstGeom>
          <a:solidFill>
            <a:srgbClr val="DCEBE8"/>
          </a:solidFill>
          <a:ln w="8890">
            <a:solidFill>
              <a:srgbClr val="DCE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68503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religion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68503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bilateral similarity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3611880"/>
            <a:ext cx="2194560" cy="310896"/>
          </a:xfrm>
          <a:prstGeom prst="roundRect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3680460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" y="4233672"/>
            <a:ext cx="2057400" cy="420624"/>
          </a:xfrm>
          <a:prstGeom prst="rect">
            <a:avLst/>
          </a:prstGeom>
          <a:solidFill>
            <a:srgbClr val="F4DADA"/>
          </a:solidFill>
          <a:ln w="8890">
            <a:solidFill>
              <a:srgbClr val="F4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3434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Diplo disagreement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434340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bilateral friction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4270248"/>
            <a:ext cx="2194560" cy="310896"/>
          </a:xfrm>
          <a:prstGeom prst="roundRect">
            <a:avLst/>
          </a:prstGeom>
          <a:solidFill>
            <a:srgbClr val="F4DADA"/>
          </a:solidFill>
          <a:ln w="12700">
            <a:solidFill>
              <a:srgbClr val="F4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4338828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98280" y="1874520"/>
            <a:ext cx="2377440" cy="146304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4584" y="200253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244584" y="2295144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is not a feature in this comparison. It is already used to order destinations in the radiation mechanism.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Bilateral features cannot be inserted raw into Sigma.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should mean neutral; signs should mean attraction versus repulsion; heavy tails need compression.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48640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orientation: high values can mean attraction or repulsion</a:t>
            </a:r>
            <a:endParaRPr lang="en-US" sz="1420" dirty="0"/>
          </a:p>
          <a:p>
            <a:r>
              <a:rPr lang="en-US" sz="14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centering: Sigma &gt; 0 attractive, Sigma = 0 neutral, Sigma &lt; 0 repulsive</a:t>
            </a:r>
            <a:endParaRPr lang="en-US" sz="1420" dirty="0"/>
          </a:p>
          <a:p>
            <a:r>
              <a:rPr lang="en-US" sz="14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tails: log compression can stop extreme corridors dominating</a:t>
            </a:r>
            <a:endParaRPr lang="en-US" sz="1420" dirty="0"/>
          </a:p>
          <a:p>
            <a:r>
              <a:rPr lang="en-US" sz="14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values: zero is a substantive neutrality assumption</a:t>
            </a:r>
            <a:endParaRPr lang="en-US" sz="1420" dirty="0"/>
          </a:p>
          <a:p>
            <a:r>
              <a:rPr lang="en-US" sz="14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comparability: validation and test must use consistent transformations</a:t>
            </a:r>
            <a:endParaRPr lang="en-US" sz="142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91640"/>
          <a:ext cx="4800600" cy="2331720"/>
        </p:xfrm>
        <a:graphic>
          <a:graphicData uri="http://schemas.openxmlformats.org/drawingml/2006/table">
            <a:tbl>
              <a:tblPr/>
              <a:tblGrid>
                <a:gridCol w="1600200"/>
                <a:gridCol w="2606040"/>
                <a:gridCol w="594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normalization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GDP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 zscore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Abel stock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expected-stock log-ratio min-max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Social connectedness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min-max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religion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min-max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Diplomatic disagreement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 rank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629400" y="1691640"/>
            <a:ext cx="4800600" cy="310896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29400" y="4480560"/>
            <a:ext cx="4800600" cy="82296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75704" y="4608576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rule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775704" y="490118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tests normalizations within each feature group and carries forward one selected version per group into the test split.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empirical workflow separates tuning from reporting.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comparison is out-of-sample on test_2019_h2.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solidFill>
            <a:srgbClr val="2F6F73"/>
          </a:solidFill>
          <a:ln w="8890">
            <a:solidFill>
              <a:srgbClr val="2F6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17556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328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nodes and flows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Asia, 2019 validation/test periods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30175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9232" y="1828800"/>
            <a:ext cx="384048" cy="384048"/>
          </a:xfrm>
          <a:prstGeom prst="rect">
            <a:avLst/>
          </a:prstGeom>
          <a:solidFill>
            <a:srgbClr val="2F6F73"/>
          </a:solidFill>
          <a:ln w="8890">
            <a:solidFill>
              <a:srgbClr val="2F6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99232" y="2423160"/>
            <a:ext cx="17556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5328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distance matrix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99232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gravity dist used for scanning order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82312" y="2743200"/>
            <a:ext cx="30175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21224" y="1828800"/>
            <a:ext cx="384048" cy="384048"/>
          </a:xfrm>
          <a:prstGeom prst="rect">
            <a:avLst/>
          </a:prstGeom>
          <a:solidFill>
            <a:srgbClr val="2F6F73"/>
          </a:solidFill>
          <a:ln w="8890">
            <a:solidFill>
              <a:srgbClr val="2F6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21224" y="2423160"/>
            <a:ext cx="17556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5328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Sigma variants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21224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GDP, Abel, SCI, religion, diplomacy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04304" y="2743200"/>
            <a:ext cx="30175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43216" y="1828800"/>
            <a:ext cx="384048" cy="384048"/>
          </a:xfrm>
          <a:prstGeom prst="rect">
            <a:avLst/>
          </a:prstGeom>
          <a:solidFill>
            <a:srgbClr val="B65C2A"/>
          </a:solidFill>
          <a:ln w="8890">
            <a:solidFill>
              <a:srgbClr val="B6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43216" y="2423160"/>
            <a:ext cx="17556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25328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sigma on validation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43216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grid, same metric hierarchy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26296" y="2743200"/>
            <a:ext cx="301752" cy="0"/>
          </a:xfrm>
          <a:prstGeom prst="line">
            <a:avLst/>
          </a:prstGeom>
          <a:noFill/>
          <a:ln w="15240">
            <a:solidFill>
              <a:srgbClr val="CBD0D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65208" y="1828800"/>
            <a:ext cx="384048" cy="384048"/>
          </a:xfrm>
          <a:prstGeom prst="rect">
            <a:avLst/>
          </a:prstGeom>
          <a:solidFill>
            <a:srgbClr val="B65C2A"/>
          </a:solidFill>
          <a:ln w="8890">
            <a:solidFill>
              <a:srgbClr val="B65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4936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65208" y="2423160"/>
            <a:ext cx="17556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0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74936" y="25328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and test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65208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selected model per feature group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709160"/>
            <a:ext cx="10332720" cy="77724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" y="4837176"/>
            <a:ext cx="10040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hierarchy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1060704" y="5129784"/>
            <a:ext cx="10040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Primary: median route-level improvement over RM. Tie-breakers: share of routes better than RM, then Pearson correlation in log space.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RESULTS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Normalization changes results, so the selected specification is chosen feature-by-feature.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robustness step, not an extra model parameter.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777240" y="1389888"/>
            <a:ext cx="1065276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2a_normalization_sensitivity_all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655" y="1389888"/>
            <a:ext cx="3725930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split: 2019 H1. Each row is one feature group; each line is one normalization.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RESULTS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GDP is strongest globally; SCI is the strongest relational feature.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extension shows value, but only when the bilateral feature contains useful signal.</a:t>
            </a:r>
            <a:endParaRPr lang="en-US" sz="133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54480"/>
          <a:ext cx="8046720" cy="3429000"/>
        </p:xfrm>
        <a:graphic>
          <a:graphicData uri="http://schemas.openxmlformats.org/drawingml/2006/table">
            <a:tbl>
              <a:tblPr/>
              <a:tblGrid>
                <a:gridCol w="3657600"/>
                <a:gridCol w="1508760"/>
                <a:gridCol w="1325880"/>
                <a:gridCol w="11887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improvement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better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Pearson log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Traditional FERM: GDP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0.689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SCI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0.026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Common religion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0.654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Abel stock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-0.003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0.446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Diplo disagreement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-0.008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0.626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RM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0.646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3232" y="1554480"/>
            <a:ext cx="8046720" cy="338328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89720" y="1719072"/>
            <a:ext cx="2148840" cy="105156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36024" y="1847088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9336024" y="2139696"/>
            <a:ext cx="18562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leads on median improvement, share better than RM, and Pearson log correlation.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9189720" y="3246120"/>
            <a:ext cx="2148840" cy="1078992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36024" y="337413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result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9336024" y="3666744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 is meaningfully positive: median improvement 0.026 and share better 0.562.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9189720" y="4754880"/>
            <a:ext cx="2148840" cy="868680"/>
          </a:xfrm>
          <a:prstGeom prst="rect">
            <a:avLst/>
          </a:prstGeom>
          <a:solidFill>
            <a:srgbClr val="F4DADA">
              <a:alpha val="95000"/>
            </a:srgbClr>
          </a:solidFill>
          <a:ln w="12700">
            <a:solidFill>
              <a:srgbClr val="F4DA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6024" y="488289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features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9336024" y="5175504"/>
            <a:ext cx="1856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and diplomatic disagreement underperform RM on median route-level error.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split: 2019 H2.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EVIDENCE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Route-level plots show GDP and SCI improve many OD pairs, but GDP is more stable.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the diagonal means the model has lower absolute log-ratio error than RM.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658368" y="1353312"/>
            <a:ext cx="1092708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5_route_erro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416" y="1353312"/>
            <a:ext cx="7838984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HETEROGENEITY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information helps specific routes, not the whole system uniformly.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 wins almost a quarter of all OD pairs, even though GDP is the best global model.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804672" y="1600200"/>
            <a:ext cx="64922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8_route_wi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0556"/>
            <a:ext cx="6492240" cy="3076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3337560" cy="114300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72984" y="181965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winners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872984" y="2112264"/>
            <a:ext cx="30449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wins 31.7% of OD pairs. SCI wins 24.7%. RM still wins 11.4%.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726680" y="3246120"/>
            <a:ext cx="3337560" cy="114300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72984" y="337413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872984" y="3666744"/>
            <a:ext cx="30449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a feature-dependent relational extension rather than a universal relational improvement.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B54848"/>
          </a:solidFill>
          <a:ln w="12700">
            <a:solidFill>
              <a:srgbClr val="B54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DIAGNOSTIC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Abel stock is unstable here because it zero-predicts too many real corridors.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is not only tiny routes; some large South Asia-Gulf corridors receive zero predictions.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20.7%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zero-prediction share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337560" y="1828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57,919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337560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migrants on zero routes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7,424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263640" y="23042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observed zero route</a:t>
            </a:r>
            <a:endParaRPr lang="en-US" sz="86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200400"/>
          <a:ext cx="5120640" cy="2057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Zero-predicted route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Sri Lanka -&gt; Qatar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7,424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Qatar -&gt; Sri Lanka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6,239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Bahrain -&gt; Philippines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6,137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Sri Lanka -&gt; Kuwait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Nepal -&gt; Cyprus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005840" y="3200400"/>
            <a:ext cx="5120640" cy="329184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0" y="3337560"/>
            <a:ext cx="4160520" cy="1234440"/>
          </a:xfrm>
          <a:prstGeom prst="rect">
            <a:avLst/>
          </a:prstGeom>
          <a:solidFill>
            <a:srgbClr val="F4DADA">
              <a:alpha val="95000"/>
            </a:srgbClr>
          </a:solidFill>
          <a:ln w="12700">
            <a:solidFill>
              <a:srgbClr val="F4DA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0024" y="3465576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050024" y="3758184"/>
            <a:ext cx="3867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remains conceptually relevant, but this construction is empirically too punitive or too sparse for important labor-migration corridors.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5196"/>
            <a:ext cx="137160" cy="13716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FERM is viable, but the empirical Sigma must be built carefully.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contribution is conceptual clarity; the empirical contribution is identifying which bilateral features actually carry signal.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841248" y="1783080"/>
            <a:ext cx="649224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radiation mechanism is unchanged across RM, traditional FERM, and relational FERM.</a:t>
            </a:r>
            <a:endParaRPr lang="en-US" sz="1600" dirty="0"/>
          </a:p>
          <a:p>
            <a:r>
              <a:rPr lang="en-US" sz="16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FERM moves attractiveness from destination-only to corridor-specific offers.</a:t>
            </a:r>
            <a:endParaRPr lang="en-US" sz="1600" dirty="0"/>
          </a:p>
          <a:p>
            <a:r>
              <a:rPr lang="en-US" sz="16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is part of the model specification because Sigma has sign and scale semantics.</a:t>
            </a:r>
            <a:endParaRPr lang="en-US" sz="1600" dirty="0"/>
          </a:p>
          <a:p>
            <a:r>
              <a:rPr lang="en-US" sz="16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sample, GDP is strongest globally; SCI is the most promising relational feature.</a:t>
            </a:r>
            <a:endParaRPr lang="en-US" sz="1600" dirty="0"/>
          </a:p>
          <a:p>
            <a:r>
              <a:rPr lang="en-US" sz="16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natural step is a combined destination-plus-relational Sigma.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6680" y="1874520"/>
            <a:ext cx="3429000" cy="1645920"/>
          </a:xfrm>
          <a:prstGeom prst="rect">
            <a:avLst/>
          </a:prstGeom>
          <a:solidFill>
            <a:srgbClr val="DCEBE8">
              <a:alpha val="95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2984" y="2002536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final sentence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872984" y="2295144"/>
            <a:ext cx="3136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extension does not fail; it tells us that route-specific attractiveness matters only when the bilateral feature is strong enough and normalized coherently.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726680" y="4160520"/>
            <a:ext cx="3429000" cy="1051560"/>
          </a:xfrm>
          <a:prstGeom prst="rect">
            <a:avLst/>
          </a:prstGeom>
          <a:solidFill>
            <a:srgbClr val="F1DDD2">
              <a:alpha val="95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2984" y="4288536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model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872984" y="4581144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Sigma_ii = mu_i and Sigma_ij combines destination attractiveness with corridor-specific relational structure.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FERM model note; src/ferm/model.py; presentation_ferm_results.ipynb.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FERM: Model, Normalization, and Empirical Evidence</dc:title>
  <dc:subject>Relational FERM model presentation</dc:subject>
  <dc:creator>Vittoria Bettio</dc:creator>
  <cp:lastModifiedBy>Vittoria Bettio</cp:lastModifiedBy>
  <cp:revision>1</cp:revision>
  <dcterms:created xsi:type="dcterms:W3CDTF">2026-06-08T14:43:09Z</dcterms:created>
  <dcterms:modified xsi:type="dcterms:W3CDTF">2026-06-08T14:43:09Z</dcterms:modified>
</cp:coreProperties>
</file>